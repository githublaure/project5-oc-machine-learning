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1"/>
  </p:notesMasterIdLst>
  <p:sldIdLst>
    <p:sldId id="256" r:id="rId2"/>
    <p:sldId id="326" r:id="rId3"/>
    <p:sldId id="270" r:id="rId4"/>
    <p:sldId id="311" r:id="rId5"/>
    <p:sldId id="338" r:id="rId6"/>
    <p:sldId id="312" r:id="rId7"/>
    <p:sldId id="339" r:id="rId8"/>
    <p:sldId id="334" r:id="rId9"/>
    <p:sldId id="340" r:id="rId10"/>
    <p:sldId id="343" r:id="rId11"/>
    <p:sldId id="258" r:id="rId12"/>
    <p:sldId id="335" r:id="rId13"/>
    <p:sldId id="337" r:id="rId14"/>
    <p:sldId id="313" r:id="rId15"/>
    <p:sldId id="333" r:id="rId16"/>
    <p:sldId id="341" r:id="rId17"/>
    <p:sldId id="301" r:id="rId18"/>
    <p:sldId id="342" r:id="rId19"/>
    <p:sldId id="275" r:id="rId20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22"/>
    </p:embeddedFont>
    <p:embeddedFont>
      <p:font typeface="Nunito Light" panose="020F0302020204030204" pitchFamily="34" charset="0"/>
      <p:regular r:id="rId23"/>
      <p:italic r:id="rId24"/>
    </p:embeddedFont>
    <p:embeddedFont>
      <p:font typeface="Poppins Medium" panose="020B0604020202020204" pitchFamily="34" charset="0"/>
      <p:regular r:id="rId25"/>
      <p:bold r:id="rId26"/>
      <p:italic r:id="rId27"/>
      <p:boldItalic r:id="rId28"/>
    </p:embeddedFont>
    <p:embeddedFont>
      <p:font typeface="Quicksand Medium" pitchFamily="2" charset="77"/>
      <p:regular r:id="rId29"/>
      <p:bold r:id="rId30"/>
    </p:embeddedFont>
    <p:embeddedFont>
      <p:font typeface="Quicksand SemiBold" pitchFamily="2" charset="7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53CFA2"/>
    <a:srgbClr val="FF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E1990F-7493-410F-B343-7341C0AC1395}">
  <a:tblStyle styleId="{A0E1990F-7493-410F-B343-7341C0AC13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6018"/>
  </p:normalViewPr>
  <p:slideViewPr>
    <p:cSldViewPr snapToGrid="0">
      <p:cViewPr varScale="1">
        <p:scale>
          <a:sx n="124" d="100"/>
          <a:sy n="124" d="100"/>
        </p:scale>
        <p:origin x="17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www.notion.so</a:t>
            </a:r>
            <a:r>
              <a:rPr lang="en-US" dirty="0"/>
              <a:t>/</a:t>
            </a:r>
            <a:r>
              <a:rPr lang="en-US" dirty="0" err="1"/>
              <a:t>databird</a:t>
            </a:r>
            <a:r>
              <a:rPr lang="en-US" dirty="0"/>
              <a:t>/Replay-56e8f307e00a4e33b46295346b372c06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Il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s’agit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de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segmenter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les clients d’un site e-commerce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en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fonction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de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leur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comportement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d’achat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afin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de proposer des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offres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personnalisées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. Le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projet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comporte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plusieurs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étapes :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nettoyage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et exploration des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données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, segmentation par la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méthode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RFM, clustering par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l’algorithme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K-means,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analyse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des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résultats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et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recommandations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072864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Merge step5 et 6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sellers_data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Pas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ou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doublons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products_data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2448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pas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doublons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reviews_data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145903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pas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doublons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orders_data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4908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pas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doublons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payments_data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Pas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ou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doublons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items_data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Pas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ou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doublons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geolocation_data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Pas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mais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261831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doublons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customers_data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Pas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ou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doublons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br>
              <a:rPr lang="en-US" dirty="0"/>
            </a:br>
            <a:endParaRPr lang="fr-FR" sz="1100" b="0" i="0" u="none" strike="noStrike" cap="none" dirty="0">
              <a:solidFill>
                <a:schemeClr val="dk1"/>
              </a:solidFill>
              <a:latin typeface="Quicksand Medium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fr-FR" sz="1100" b="0" i="0" u="none" strike="noStrike" cap="none" dirty="0">
              <a:solidFill>
                <a:schemeClr val="dk1"/>
              </a:solidFill>
              <a:latin typeface="Quicksand Medium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fr-FR" sz="1100" b="0" i="0" u="none" strike="noStrike" cap="none" dirty="0">
              <a:solidFill>
                <a:schemeClr val="dk1"/>
              </a:solidFill>
              <a:latin typeface="Quicksand Medium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fr-FR" sz="1100" b="0" i="0" u="none" strike="noStrike" cap="none" dirty="0">
                <a:solidFill>
                  <a:schemeClr val="dk1"/>
                </a:solidFill>
                <a:latin typeface="Quicksand Medium"/>
                <a:ea typeface="Arial"/>
                <a:cs typeface="Arial"/>
                <a:sym typeface="Arial"/>
              </a:rPr>
              <a:t>Source des données, EDA, description statistiques, matrice de corrélation, gestion des valeurs aberrante, </a:t>
            </a:r>
            <a:r>
              <a:rPr lang="fr-FR" sz="1100" b="0" i="0" u="none" strike="noStrike" cap="none" dirty="0" err="1">
                <a:solidFill>
                  <a:schemeClr val="dk1"/>
                </a:solidFill>
                <a:latin typeface="Quicksand Medium"/>
                <a:ea typeface="Arial"/>
                <a:cs typeface="Arial"/>
                <a:sym typeface="Arial"/>
              </a:rPr>
              <a:t>outliers</a:t>
            </a:r>
            <a:r>
              <a:rPr lang="fr-FR" sz="1100" b="0" i="0" u="none" strike="noStrike" cap="none" dirty="0">
                <a:solidFill>
                  <a:schemeClr val="dk1"/>
                </a:solidFill>
                <a:latin typeface="Quicksand Medium"/>
                <a:ea typeface="Arial"/>
                <a:cs typeface="Arial"/>
                <a:sym typeface="Arial"/>
              </a:rPr>
              <a:t> et valeurs manquantes</a:t>
            </a:r>
          </a:p>
          <a:p>
            <a:endParaRPr lang="fr-FR" dirty="0"/>
          </a:p>
          <a:p>
            <a:r>
              <a:rPr lang="fr-FR" dirty="0"/>
              <a:t>*Numériques dont certaines quantitatives et d’autres ordinales</a:t>
            </a:r>
          </a:p>
          <a:p>
            <a:endParaRPr lang="fr-FR" dirty="0"/>
          </a:p>
          <a:p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Cette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étape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consiste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à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sélectionner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les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données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qui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seront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utiles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pour la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modélisation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. Il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s'agit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d'un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processus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d'exploration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et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d'analyse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des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données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pour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comprendre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quels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attributs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sont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pertinents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pour la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prédiction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 des variables </a:t>
            </a:r>
            <a:r>
              <a:rPr lang="en-GB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cibles</a:t>
            </a:r>
            <a:r>
              <a:rPr lang="en-GB" b="0" i="0" u="none" strike="noStrike" dirty="0">
                <a:solidFill>
                  <a:srgbClr val="D1D5DB"/>
                </a:solidFill>
                <a:effectLst/>
                <a:latin typeface="Söhne"/>
              </a:rPr>
              <a:t>.</a:t>
            </a:r>
          </a:p>
          <a:p>
            <a:endParaRPr lang="en-GB" b="0" i="0" u="none" strike="noStrike" dirty="0">
              <a:solidFill>
                <a:srgbClr val="D1D5DB"/>
              </a:solidFill>
              <a:effectLst/>
              <a:latin typeface="Söhne"/>
            </a:endParaRPr>
          </a:p>
          <a:p>
            <a:endParaRPr lang="en-GB" b="0" i="0" u="none" strike="noStrike" dirty="0">
              <a:solidFill>
                <a:srgbClr val="D1D5DB"/>
              </a:solidFill>
              <a:effectLst/>
              <a:latin typeface="Söhne"/>
            </a:endParaRPr>
          </a:p>
          <a:p>
            <a:r>
              <a:rPr lang="fr-FR" dirty="0"/>
              <a:t>Instructions pour l'Analyse de Segmentation des Clients :</a:t>
            </a:r>
          </a:p>
          <a:p>
            <a:endParaRPr lang="fr-FR" dirty="0"/>
          </a:p>
          <a:p>
            <a:r>
              <a:rPr lang="fr-FR" dirty="0"/>
              <a:t>1. Importer les données : Chargez les jeux de données pertinents pour l'analyse, incluant les données des commandes, des clients, des produits, des vendeurs, etc.</a:t>
            </a:r>
          </a:p>
          <a:p>
            <a:endParaRPr lang="fr-FR" dirty="0"/>
          </a:p>
          <a:p>
            <a:r>
              <a:rPr lang="fr-FR" dirty="0"/>
              <a:t>2. Nettoyer les données : Effectuer les opérations de nettoyage nécessaires, telles que la suppression des valeurs manquantes et la gestion des doublons.</a:t>
            </a:r>
          </a:p>
          <a:p>
            <a:endParaRPr lang="fr-FR" dirty="0"/>
          </a:p>
          <a:p>
            <a:r>
              <a:rPr lang="fr-FR" dirty="0"/>
              <a:t>3. Fusionner les données : Combinez les différentes tables pour obtenir un seul </a:t>
            </a:r>
            <a:r>
              <a:rPr lang="fr-FR" dirty="0" err="1"/>
              <a:t>dataframe</a:t>
            </a:r>
            <a:r>
              <a:rPr lang="fr-FR" dirty="0"/>
              <a:t> contenant les informations pertinentes pour l'analyse.</a:t>
            </a:r>
          </a:p>
          <a:p>
            <a:endParaRPr lang="fr-FR" dirty="0"/>
          </a:p>
          <a:p>
            <a:r>
              <a:rPr lang="fr-FR" dirty="0"/>
              <a:t>4. Explorer les données : Effectuer une exploration préliminaire des données pour comprendre leur structure et identifier les tendances ou les motifs intéressants.</a:t>
            </a:r>
          </a:p>
          <a:p>
            <a:endParaRPr lang="fr-FR" dirty="0"/>
          </a:p>
          <a:p>
            <a:r>
              <a:rPr lang="fr-FR" dirty="0"/>
              <a:t>5. Prétraiter les données : Sélectionnez les colonnes pertinentes pour la segmentation et encodez les variables catégorielles si nécessaire.</a:t>
            </a:r>
          </a:p>
          <a:p>
            <a:endParaRPr lang="fr-FR" dirty="0"/>
          </a:p>
          <a:p>
            <a:r>
              <a:rPr lang="fr-FR" dirty="0"/>
              <a:t>6. Réduire la dimension avec PCA : Utilisez l'Analyse en Composantes Principales (PCA) pour réduire la dimensionnalité des données et les représenter dans un espace à deux dimensions.</a:t>
            </a:r>
          </a:p>
          <a:p>
            <a:endParaRPr lang="fr-FR" dirty="0"/>
          </a:p>
          <a:p>
            <a:r>
              <a:rPr lang="fr-FR" dirty="0"/>
              <a:t>7. Déterminer le nombre optimal de clusters : Utilisez la méthode du coude et/ou le Silhouette Score pour déterminer le nombre optimal de clusters pour le modèle K-</a:t>
            </a:r>
            <a:r>
              <a:rPr lang="fr-FR" dirty="0" err="1"/>
              <a:t>Means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8. Entraîner le modèle K-</a:t>
            </a:r>
            <a:r>
              <a:rPr lang="fr-FR" dirty="0" err="1"/>
              <a:t>Means</a:t>
            </a:r>
            <a:r>
              <a:rPr lang="fr-FR" dirty="0"/>
              <a:t> : Entraînez le modèle K-</a:t>
            </a:r>
            <a:r>
              <a:rPr lang="fr-FR" dirty="0" err="1"/>
              <a:t>Means</a:t>
            </a:r>
            <a:r>
              <a:rPr lang="fr-FR" dirty="0"/>
              <a:t> avec le nombre optimal de clusters déterminé précédemment.</a:t>
            </a:r>
          </a:p>
          <a:p>
            <a:endParaRPr lang="fr-FR" dirty="0"/>
          </a:p>
          <a:p>
            <a:r>
              <a:rPr lang="fr-FR" dirty="0"/>
              <a:t>9. Interpréter les clusters : Analysez les caractéristiques des clients dans chaque cluster pour comprendre les différences et les similarités entre les groupes.</a:t>
            </a:r>
          </a:p>
          <a:p>
            <a:endParaRPr lang="fr-FR" dirty="0"/>
          </a:p>
          <a:p>
            <a:r>
              <a:rPr lang="fr-FR" dirty="0"/>
              <a:t>10. Évaluer le modèle : Utilisez le Silhouette Score pour évaluer la qualité de la segmentation réalisée par le modèle K-</a:t>
            </a:r>
            <a:r>
              <a:rPr lang="fr-FR" dirty="0" err="1"/>
              <a:t>Means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11. Effectuer une étude de stabilité temporelle : Divisez les données en plusieurs périodes temporelles, entraînez le modèle sur chaque période et comparez la stabilité des clusters au fil du temps.</a:t>
            </a:r>
          </a:p>
          <a:p>
            <a:endParaRPr lang="fr-FR" dirty="0"/>
          </a:p>
          <a:p>
            <a:r>
              <a:rPr lang="fr-FR" dirty="0"/>
              <a:t>12. Proposer un plan de maintenance : Sur la base de l'étude de stabilité temporelle, proposez une fréquence de mise à jour du modèle pour maintenir sa pertinence.</a:t>
            </a:r>
          </a:p>
          <a:p>
            <a:endParaRPr lang="fr-FR" dirty="0"/>
          </a:p>
          <a:p>
            <a:r>
              <a:rPr lang="fr-FR" dirty="0"/>
              <a:t>13. Développer une stratégie d'affectation des nouveaux clients : Une fois le modèle en place, déterminez comment affecter les nouveaux clients à un cluster existant ou créer de nouveaux clusters si nécessaire.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29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7676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6571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8173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À remplacer avec les vraies données</a:t>
            </a:r>
          </a:p>
        </p:txBody>
      </p:sp>
    </p:spTree>
    <p:extLst>
      <p:ext uri="{BB962C8B-B14F-4D97-AF65-F5344CB8AC3E}">
        <p14:creationId xmlns:p14="http://schemas.microsoft.com/office/powerpoint/2010/main" val="2266381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473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fr-FR" dirty="0"/>
              <a:t>Ajouter graphiques pour représenter les clusters clients (radar plot)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9012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510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0859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Reessayer</a:t>
            </a:r>
            <a:r>
              <a:rPr lang="fr-FR" dirty="0"/>
              <a:t> avec </a:t>
            </a:r>
            <a:r>
              <a:rPr lang="fr-FR" dirty="0" err="1"/>
              <a:t>davies</a:t>
            </a:r>
            <a:r>
              <a:rPr lang="fr-FR" dirty="0"/>
              <a:t> </a:t>
            </a:r>
            <a:r>
              <a:rPr lang="fr-FR" dirty="0" err="1"/>
              <a:t>bouldin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9460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9160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/>
          <p:nvPr/>
        </p:nvSpPr>
        <p:spPr>
          <a:xfrm rot="10800000">
            <a:off x="7181825" y="1722750"/>
            <a:ext cx="1698000" cy="1698000"/>
          </a:xfrm>
          <a:prstGeom prst="pie">
            <a:avLst>
              <a:gd name="adj1" fmla="val 5412192"/>
              <a:gd name="adj2" fmla="val 1620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8388600" y="2610575"/>
            <a:ext cx="755400" cy="253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4"/>
          <p:cNvSpPr/>
          <p:nvPr/>
        </p:nvSpPr>
        <p:spPr>
          <a:xfrm rot="-5400000">
            <a:off x="149825" y="-304750"/>
            <a:ext cx="1126800" cy="1126800"/>
          </a:xfrm>
          <a:prstGeom prst="pie">
            <a:avLst>
              <a:gd name="adj1" fmla="val 5412192"/>
              <a:gd name="adj2" fmla="val 162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-1551725" y="386250"/>
            <a:ext cx="2738700" cy="27387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 rot="5400000" flipH="1">
            <a:off x="1049250" y="3473750"/>
            <a:ext cx="616500" cy="2715000"/>
          </a:xfrm>
          <a:prstGeom prst="round1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5"/>
          <p:cNvSpPr/>
          <p:nvPr/>
        </p:nvSpPr>
        <p:spPr>
          <a:xfrm>
            <a:off x="201725" y="3848275"/>
            <a:ext cx="895200" cy="8952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713225" y="3587925"/>
            <a:ext cx="409200" cy="409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5"/>
          <p:cNvSpPr/>
          <p:nvPr/>
        </p:nvSpPr>
        <p:spPr>
          <a:xfrm rot="-5400000" flipH="1">
            <a:off x="7478250" y="-1049250"/>
            <a:ext cx="616500" cy="2715000"/>
          </a:xfrm>
          <a:prstGeom prst="round1Rect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8194600" y="280950"/>
            <a:ext cx="1418700" cy="141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5"/>
          <p:cNvSpPr/>
          <p:nvPr/>
        </p:nvSpPr>
        <p:spPr>
          <a:xfrm>
            <a:off x="8257550" y="1395950"/>
            <a:ext cx="564600" cy="564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nimalist Geometric Shapes Style Pitch Deck by Slidesgo" type="title">
  <p:cSld name="Minimalist Geometric Shapes Style Pitch Deck by Slidesg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435025" y="747412"/>
            <a:ext cx="4273800" cy="29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 b="0"/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435175" y="4015088"/>
            <a:ext cx="4273800" cy="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700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 b="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119138"/>
            <a:ext cx="77040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/>
          <p:nvPr/>
        </p:nvSpPr>
        <p:spPr>
          <a:xfrm rot="10800000">
            <a:off x="8608500" y="0"/>
            <a:ext cx="535500" cy="1805400"/>
          </a:xfrm>
          <a:prstGeom prst="round1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rot="5400000">
            <a:off x="267750" y="4608817"/>
            <a:ext cx="1086300" cy="1086300"/>
          </a:xfrm>
          <a:prstGeom prst="pie">
            <a:avLst>
              <a:gd name="adj1" fmla="val 5412192"/>
              <a:gd name="adj2" fmla="val 1620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1503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/>
          <p:nvPr/>
        </p:nvSpPr>
        <p:spPr>
          <a:xfrm rot="2700000">
            <a:off x="8453676" y="465901"/>
            <a:ext cx="1514623" cy="1514199"/>
          </a:xfrm>
          <a:prstGeom prst="roundRect">
            <a:avLst>
              <a:gd name="adj" fmla="val 26624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/>
          <p:nvPr/>
        </p:nvSpPr>
        <p:spPr>
          <a:xfrm rot="2700000">
            <a:off x="8331073" y="78952"/>
            <a:ext cx="921077" cy="921077"/>
          </a:xfrm>
          <a:prstGeom prst="roundRect">
            <a:avLst>
              <a:gd name="adj" fmla="val 2662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0" y="3338100"/>
            <a:ext cx="535500" cy="1805400"/>
          </a:xfrm>
          <a:prstGeom prst="round1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351175" y="4524200"/>
            <a:ext cx="527700" cy="5277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/>
          <p:nvPr/>
        </p:nvSpPr>
        <p:spPr>
          <a:xfrm rot="5400000">
            <a:off x="143325" y="-212950"/>
            <a:ext cx="689100" cy="15906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1012575" y="174425"/>
            <a:ext cx="270600" cy="270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03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 b="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2" hasCustomPrompt="1"/>
          </p:nvPr>
        </p:nvSpPr>
        <p:spPr>
          <a:xfrm>
            <a:off x="1676375" y="1126150"/>
            <a:ext cx="849900" cy="671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3" hasCustomPrompt="1"/>
          </p:nvPr>
        </p:nvSpPr>
        <p:spPr>
          <a:xfrm>
            <a:off x="1676375" y="2931524"/>
            <a:ext cx="849900" cy="671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4" hasCustomPrompt="1"/>
          </p:nvPr>
        </p:nvSpPr>
        <p:spPr>
          <a:xfrm>
            <a:off x="4147050" y="1126150"/>
            <a:ext cx="849900" cy="671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5" hasCustomPrompt="1"/>
          </p:nvPr>
        </p:nvSpPr>
        <p:spPr>
          <a:xfrm>
            <a:off x="4147050" y="2931525"/>
            <a:ext cx="849900" cy="671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6" hasCustomPrompt="1"/>
          </p:nvPr>
        </p:nvSpPr>
        <p:spPr>
          <a:xfrm>
            <a:off x="6617725" y="1126149"/>
            <a:ext cx="849900" cy="671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7" hasCustomPrompt="1"/>
          </p:nvPr>
        </p:nvSpPr>
        <p:spPr>
          <a:xfrm>
            <a:off x="6617725" y="2931524"/>
            <a:ext cx="849900" cy="6717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997775" y="1950250"/>
            <a:ext cx="220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8"/>
          </p:nvPr>
        </p:nvSpPr>
        <p:spPr>
          <a:xfrm>
            <a:off x="3468450" y="1950250"/>
            <a:ext cx="220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9"/>
          </p:nvPr>
        </p:nvSpPr>
        <p:spPr>
          <a:xfrm>
            <a:off x="5939125" y="1950250"/>
            <a:ext cx="220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3"/>
          </p:nvPr>
        </p:nvSpPr>
        <p:spPr>
          <a:xfrm>
            <a:off x="997775" y="3755625"/>
            <a:ext cx="220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4"/>
          </p:nvPr>
        </p:nvSpPr>
        <p:spPr>
          <a:xfrm>
            <a:off x="3468450" y="3755625"/>
            <a:ext cx="220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5"/>
          </p:nvPr>
        </p:nvSpPr>
        <p:spPr>
          <a:xfrm>
            <a:off x="5939125" y="3755625"/>
            <a:ext cx="2207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8165725" y="2555025"/>
            <a:ext cx="2454300" cy="245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8334750" y="4604000"/>
            <a:ext cx="394500" cy="394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3"/>
          <p:cNvSpPr/>
          <p:nvPr/>
        </p:nvSpPr>
        <p:spPr>
          <a:xfrm rot="10800000">
            <a:off x="96100" y="-178500"/>
            <a:ext cx="740700" cy="23916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658550" y="145000"/>
            <a:ext cx="447600" cy="447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6"/>
          </p:nvPr>
        </p:nvSpPr>
        <p:spPr>
          <a:xfrm>
            <a:off x="997775" y="2259225"/>
            <a:ext cx="2207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7"/>
          </p:nvPr>
        </p:nvSpPr>
        <p:spPr>
          <a:xfrm>
            <a:off x="3468450" y="2259225"/>
            <a:ext cx="22071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8"/>
          </p:nvPr>
        </p:nvSpPr>
        <p:spPr>
          <a:xfrm>
            <a:off x="5939125" y="2259225"/>
            <a:ext cx="22071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9"/>
          </p:nvPr>
        </p:nvSpPr>
        <p:spPr>
          <a:xfrm>
            <a:off x="997775" y="4064600"/>
            <a:ext cx="22071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20"/>
          </p:nvPr>
        </p:nvSpPr>
        <p:spPr>
          <a:xfrm>
            <a:off x="3468450" y="4064600"/>
            <a:ext cx="22071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21"/>
          </p:nvPr>
        </p:nvSpPr>
        <p:spPr>
          <a:xfrm>
            <a:off x="5939125" y="4064600"/>
            <a:ext cx="22071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028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162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8425975" y="3308650"/>
            <a:ext cx="543900" cy="185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8697225" y="3126350"/>
            <a:ext cx="341100" cy="341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1"/>
          <p:cNvSpPr/>
          <p:nvPr/>
        </p:nvSpPr>
        <p:spPr>
          <a:xfrm rot="10800000">
            <a:off x="-27575" y="0"/>
            <a:ext cx="543900" cy="185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1"/>
          <p:cNvSpPr/>
          <p:nvPr/>
        </p:nvSpPr>
        <p:spPr>
          <a:xfrm rot="-5400000">
            <a:off x="50525" y="-542925"/>
            <a:ext cx="1325400" cy="1325400"/>
          </a:xfrm>
          <a:prstGeom prst="pie">
            <a:avLst>
              <a:gd name="adj1" fmla="val 5412192"/>
              <a:gd name="adj2" fmla="val 162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93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968625" y="1424695"/>
            <a:ext cx="4448100" cy="12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ubTitle" idx="1"/>
          </p:nvPr>
        </p:nvSpPr>
        <p:spPr>
          <a:xfrm>
            <a:off x="1206750" y="2652000"/>
            <a:ext cx="4209900" cy="9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345625" y="4354125"/>
            <a:ext cx="713100" cy="713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8204425" y="3329950"/>
            <a:ext cx="755400" cy="185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7836850" y="4473975"/>
            <a:ext cx="543600" cy="5436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3"/>
          <p:cNvSpPr/>
          <p:nvPr/>
        </p:nvSpPr>
        <p:spPr>
          <a:xfrm rot="2700000">
            <a:off x="-612875" y="3395628"/>
            <a:ext cx="1384798" cy="1384798"/>
          </a:xfrm>
          <a:prstGeom prst="roundRect">
            <a:avLst>
              <a:gd name="adj" fmla="val 2662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80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 Medium"/>
              <a:buChar char="●"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 Medium"/>
              <a:buChar char="○"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 Medium"/>
              <a:buChar char="■"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 Medium"/>
              <a:buChar char="●"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 Medium"/>
              <a:buChar char="○"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 Medium"/>
              <a:buChar char="■"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 Medium"/>
              <a:buChar char="●"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 Medium"/>
              <a:buChar char="○"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Quicksand Medium"/>
              <a:buChar char="■"/>
              <a:defRPr sz="12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70" r:id="rId2"/>
    <p:sldLayoutId id="2147483671" r:id="rId3"/>
    <p:sldLayoutId id="2147483675" r:id="rId4"/>
    <p:sldLayoutId id="2147483676" r:id="rId5"/>
    <p:sldLayoutId id="2147483677" r:id="rId6"/>
    <p:sldLayoutId id="2147483678" r:id="rId7"/>
    <p:sldLayoutId id="2147483680" r:id="rId8"/>
    <p:sldLayoutId id="2147483681" r:id="rId9"/>
    <p:sldLayoutId id="214748368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olistbr/brazilian-ecommerc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ctrTitle"/>
          </p:nvPr>
        </p:nvSpPr>
        <p:spPr>
          <a:xfrm>
            <a:off x="2435025" y="747412"/>
            <a:ext cx="4273800" cy="29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fr-FR" sz="3600" i="0" dirty="0"/>
              <a:t>Segmentation clients et maintenance du modèle</a:t>
            </a:r>
            <a:endParaRPr sz="3600" dirty="0"/>
          </a:p>
        </p:txBody>
      </p:sp>
      <p:sp>
        <p:nvSpPr>
          <p:cNvPr id="194" name="Google Shape;194;p29"/>
          <p:cNvSpPr txBox="1">
            <a:spLocks noGrp="1"/>
          </p:cNvSpPr>
          <p:nvPr>
            <p:ph type="subTitle" idx="1"/>
          </p:nvPr>
        </p:nvSpPr>
        <p:spPr>
          <a:xfrm>
            <a:off x="2435175" y="4015088"/>
            <a:ext cx="4273800" cy="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Laure </a:t>
            </a:r>
            <a:r>
              <a:rPr lang="fr-F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Agrech</a:t>
            </a:r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P5</a:t>
            </a:r>
          </a:p>
        </p:txBody>
      </p:sp>
      <p:sp>
        <p:nvSpPr>
          <p:cNvPr id="195" name="Google Shape;195;p29"/>
          <p:cNvSpPr/>
          <p:nvPr/>
        </p:nvSpPr>
        <p:spPr>
          <a:xfrm>
            <a:off x="3767694" y="3794250"/>
            <a:ext cx="1608600" cy="993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9"/>
          <p:cNvSpPr/>
          <p:nvPr/>
        </p:nvSpPr>
        <p:spPr>
          <a:xfrm>
            <a:off x="584875" y="2841075"/>
            <a:ext cx="1327800" cy="23916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9"/>
          <p:cNvSpPr/>
          <p:nvPr/>
        </p:nvSpPr>
        <p:spPr>
          <a:xfrm>
            <a:off x="584875" y="2710400"/>
            <a:ext cx="475800" cy="4758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9"/>
          <p:cNvSpPr/>
          <p:nvPr/>
        </p:nvSpPr>
        <p:spPr>
          <a:xfrm>
            <a:off x="7786975" y="314675"/>
            <a:ext cx="2130900" cy="21309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9"/>
          <p:cNvSpPr/>
          <p:nvPr/>
        </p:nvSpPr>
        <p:spPr>
          <a:xfrm rot="-5400000">
            <a:off x="7032742" y="-76500"/>
            <a:ext cx="1410300" cy="1410300"/>
          </a:xfrm>
          <a:prstGeom prst="pie">
            <a:avLst>
              <a:gd name="adj1" fmla="val 5412192"/>
              <a:gd name="adj2" fmla="val 162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6CA7F-A714-8808-BDD9-6B12517A6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86209"/>
            <a:ext cx="7704000" cy="572700"/>
          </a:xfrm>
        </p:spPr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104DDBA-43CC-7939-AC4A-946C6378DF1F}"/>
              </a:ext>
            </a:extLst>
          </p:cNvPr>
          <p:cNvSpPr txBox="1">
            <a:spLocks/>
          </p:cNvSpPr>
          <p:nvPr/>
        </p:nvSpPr>
        <p:spPr>
          <a:xfrm>
            <a:off x="872400" y="89782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2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Medium"/>
              <a:buNone/>
              <a:defRPr sz="35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fr-FR" sz="1600" i="0" dirty="0"/>
              <a:t>Segmentation clients et maintenance du modèle</a:t>
            </a:r>
            <a:endParaRPr lang="fr-FR" sz="1600" dirty="0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57ABD8AB-640D-F4ED-3B83-768E5CBC2D13}"/>
              </a:ext>
            </a:extLst>
          </p:cNvPr>
          <p:cNvSpPr txBox="1">
            <a:spLocks/>
          </p:cNvSpPr>
          <p:nvPr/>
        </p:nvSpPr>
        <p:spPr>
          <a:xfrm>
            <a:off x="720000" y="1524947"/>
            <a:ext cx="7704000" cy="319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>
              <a:spcBef>
                <a:spcPts val="1000"/>
              </a:spcBef>
              <a:buClr>
                <a:schemeClr val="dk2"/>
              </a:buClr>
            </a:pPr>
            <a:r>
              <a:rPr lang="fr-FR" dirty="0">
                <a:solidFill>
                  <a:schemeClr val="tx2">
                    <a:lumMod val="10000"/>
                  </a:schemeClr>
                </a:solidFill>
              </a:rPr>
              <a:t>Objectif :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segmenter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les clients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en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groupes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homogènes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pour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mieux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comprendre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les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comportements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des clients et pour aider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Olist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à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développer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des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stratégies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de marketing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ciblées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. Les "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meilleurs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" clusters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sont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ceux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qui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sont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les plus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utiles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pour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atteindre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cet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objectif</a:t>
            </a:r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dk2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La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méthode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K-means et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dbscan</a:t>
            </a:r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dk2"/>
              </a:buClr>
            </a:pP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L'évaluation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de la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stabilité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et de la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cohérence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des segments</a:t>
            </a:r>
          </a:p>
          <a:p>
            <a:pPr>
              <a:spcBef>
                <a:spcPts val="1000"/>
              </a:spcBef>
              <a:buClr>
                <a:schemeClr val="dk2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La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fréquence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de mise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à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jour du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modèle</a:t>
            </a:r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dk2"/>
              </a:buClr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2402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3;p53">
            <a:extLst>
              <a:ext uri="{FF2B5EF4-FFF2-40B4-BE49-F238E27FC236}">
                <a16:creationId xmlns:a16="http://schemas.microsoft.com/office/drawing/2014/main" id="{C7892B76-B00D-A676-7830-0835D16DB08E}"/>
              </a:ext>
            </a:extLst>
          </p:cNvPr>
          <p:cNvSpPr/>
          <p:nvPr/>
        </p:nvSpPr>
        <p:spPr>
          <a:xfrm>
            <a:off x="3233854" y="4649512"/>
            <a:ext cx="2520176" cy="431643"/>
          </a:xfrm>
          <a:prstGeom prst="roundRect">
            <a:avLst>
              <a:gd name="adj" fmla="val 16667"/>
            </a:avLst>
          </a:prstGeom>
          <a:solidFill>
            <a:srgbClr val="11585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583;p53">
            <a:extLst>
              <a:ext uri="{FF2B5EF4-FFF2-40B4-BE49-F238E27FC236}">
                <a16:creationId xmlns:a16="http://schemas.microsoft.com/office/drawing/2014/main" id="{8EEF68BA-E79C-1DDE-B94D-08A09A3BBB97}"/>
              </a:ext>
            </a:extLst>
          </p:cNvPr>
          <p:cNvSpPr/>
          <p:nvPr/>
        </p:nvSpPr>
        <p:spPr>
          <a:xfrm>
            <a:off x="6541491" y="510175"/>
            <a:ext cx="1924228" cy="532304"/>
          </a:xfrm>
          <a:prstGeom prst="roundRect">
            <a:avLst>
              <a:gd name="adj" fmla="val 16667"/>
            </a:avLst>
          </a:prstGeom>
          <a:solidFill>
            <a:srgbClr val="11585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583;p53">
            <a:extLst>
              <a:ext uri="{FF2B5EF4-FFF2-40B4-BE49-F238E27FC236}">
                <a16:creationId xmlns:a16="http://schemas.microsoft.com/office/drawing/2014/main" id="{C29BE02D-DA4F-5249-25D7-C4DCC19CB04F}"/>
              </a:ext>
            </a:extLst>
          </p:cNvPr>
          <p:cNvSpPr/>
          <p:nvPr/>
        </p:nvSpPr>
        <p:spPr>
          <a:xfrm>
            <a:off x="516410" y="955867"/>
            <a:ext cx="2487337" cy="624904"/>
          </a:xfrm>
          <a:prstGeom prst="roundRect">
            <a:avLst>
              <a:gd name="adj" fmla="val 16667"/>
            </a:avLst>
          </a:prstGeom>
          <a:solidFill>
            <a:srgbClr val="11585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Timeline</a:t>
            </a:r>
            <a:endParaRPr dirty="0"/>
          </a:p>
        </p:txBody>
      </p:sp>
      <p:sp>
        <p:nvSpPr>
          <p:cNvPr id="401" name="Google Shape;401;p43"/>
          <p:cNvSpPr txBox="1"/>
          <p:nvPr/>
        </p:nvSpPr>
        <p:spPr>
          <a:xfrm flipH="1">
            <a:off x="659647" y="1061540"/>
            <a:ext cx="217369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bg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P</a:t>
            </a:r>
            <a:r>
              <a:rPr lang="en" sz="1800" dirty="0" err="1">
                <a:solidFill>
                  <a:schemeClr val="bg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rétraitement</a:t>
            </a:r>
            <a:r>
              <a:rPr lang="en" sz="1800" dirty="0">
                <a:solidFill>
                  <a:schemeClr val="bg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des </a:t>
            </a:r>
            <a:r>
              <a:rPr lang="en" sz="1800" dirty="0" err="1">
                <a:solidFill>
                  <a:schemeClr val="bg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données</a:t>
            </a:r>
            <a:endParaRPr sz="18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402" name="Google Shape;402;p43"/>
          <p:cNvSpPr txBox="1"/>
          <p:nvPr/>
        </p:nvSpPr>
        <p:spPr>
          <a:xfrm flipH="1">
            <a:off x="299435" y="1827886"/>
            <a:ext cx="2653388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Quicksand Medium"/>
              </a:rPr>
              <a:t>EDA,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choix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variables, feature engineering et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prétraitement</a:t>
            </a:r>
            <a:r>
              <a:rPr lang="en" sz="1200" dirty="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s</a:t>
            </a:r>
            <a:endParaRPr sz="12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 flipH="1">
            <a:off x="2801534" y="145410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sym typeface="Quicksand SemiBold"/>
              </a:rPr>
              <a:t>Step</a:t>
            </a:r>
            <a:r>
              <a:rPr lang="en" sz="36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3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404" name="Google Shape;404;p43"/>
          <p:cNvSpPr txBox="1"/>
          <p:nvPr/>
        </p:nvSpPr>
        <p:spPr>
          <a:xfrm flipH="1">
            <a:off x="2814658" y="1655533"/>
            <a:ext cx="1774623" cy="81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1000"/>
              </a:spcBef>
              <a:buClr>
                <a:schemeClr val="dk2"/>
              </a:buClr>
            </a:pPr>
            <a:r>
              <a:rPr lang="en-US" sz="1200" dirty="0">
                <a:solidFill>
                  <a:schemeClr val="dk1"/>
                </a:solidFill>
                <a:latin typeface="Quicksand Medium"/>
              </a:rPr>
              <a:t>Choix du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modèle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et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caractéristiques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clusters</a:t>
            </a:r>
          </a:p>
        </p:txBody>
      </p:sp>
      <p:sp>
        <p:nvSpPr>
          <p:cNvPr id="405" name="Google Shape;405;p43"/>
          <p:cNvSpPr txBox="1"/>
          <p:nvPr/>
        </p:nvSpPr>
        <p:spPr>
          <a:xfrm flipH="1">
            <a:off x="5392644" y="1012291"/>
            <a:ext cx="1812300" cy="762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-GB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5</a:t>
            </a:r>
          </a:p>
        </p:txBody>
      </p:sp>
      <p:sp>
        <p:nvSpPr>
          <p:cNvPr id="406" name="Google Shape;406;p43"/>
          <p:cNvSpPr txBox="1"/>
          <p:nvPr/>
        </p:nvSpPr>
        <p:spPr>
          <a:xfrm flipH="1">
            <a:off x="5050981" y="1451330"/>
            <a:ext cx="2412171" cy="425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1000"/>
              </a:spcBef>
              <a:buClr>
                <a:schemeClr val="dk2"/>
              </a:buClr>
            </a:pP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Fréquence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 mise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à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jour du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modèle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: evaluation de la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stabilité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et de la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cohérence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segments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407" name="Google Shape;407;p43"/>
          <p:cNvSpPr txBox="1"/>
          <p:nvPr/>
        </p:nvSpPr>
        <p:spPr>
          <a:xfrm flipH="1">
            <a:off x="6559645" y="454504"/>
            <a:ext cx="1887920" cy="599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chemeClr val="bg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É</a:t>
            </a:r>
            <a:r>
              <a:rPr lang="en" dirty="0">
                <a:solidFill>
                  <a:schemeClr val="bg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valuation des </a:t>
            </a:r>
            <a:r>
              <a:rPr lang="en" dirty="0" err="1">
                <a:solidFill>
                  <a:schemeClr val="bg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modèles</a:t>
            </a:r>
            <a:r>
              <a:rPr lang="en" dirty="0">
                <a:solidFill>
                  <a:schemeClr val="bg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, conclusion</a:t>
            </a:r>
            <a:endParaRPr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408" name="Google Shape;408;p43"/>
          <p:cNvSpPr txBox="1"/>
          <p:nvPr/>
        </p:nvSpPr>
        <p:spPr>
          <a:xfrm flipH="1">
            <a:off x="6415251" y="3811860"/>
            <a:ext cx="2412171" cy="949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Conclusion et les </a:t>
            </a:r>
            <a:r>
              <a:rPr lang="en-GB" sz="1200" dirty="0" err="1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recommandations</a:t>
            </a:r>
            <a:r>
              <a:rPr lang="en-GB" sz="1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marketing</a:t>
            </a:r>
            <a:endParaRPr lang="fr-FR" sz="12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409" name="Google Shape;409;p43"/>
          <p:cNvSpPr txBox="1"/>
          <p:nvPr/>
        </p:nvSpPr>
        <p:spPr>
          <a:xfrm flipH="1">
            <a:off x="1701929" y="346842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350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2</a:t>
            </a:r>
            <a:endParaRPr sz="350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410" name="Google Shape;410;p43"/>
          <p:cNvSpPr txBox="1"/>
          <p:nvPr/>
        </p:nvSpPr>
        <p:spPr>
          <a:xfrm flipH="1">
            <a:off x="1025569" y="3854011"/>
            <a:ext cx="2488618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Comparaison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modèles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non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supervisés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 clustering K-means versus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DBscan</a:t>
            </a:r>
            <a:endParaRPr lang="en-US" sz="1200" dirty="0">
              <a:solidFill>
                <a:schemeClr val="dk1"/>
              </a:solidFill>
              <a:latin typeface="Quicksand Medium"/>
            </a:endParaRPr>
          </a:p>
        </p:txBody>
      </p:sp>
      <p:sp>
        <p:nvSpPr>
          <p:cNvPr id="411" name="Google Shape;411;p43"/>
          <p:cNvSpPr txBox="1"/>
          <p:nvPr/>
        </p:nvSpPr>
        <p:spPr>
          <a:xfrm flipH="1">
            <a:off x="4172363" y="346842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4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412" name="Google Shape;412;p43"/>
          <p:cNvSpPr txBox="1"/>
          <p:nvPr/>
        </p:nvSpPr>
        <p:spPr>
          <a:xfrm flipH="1">
            <a:off x="2492787" y="4388375"/>
            <a:ext cx="4006784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endParaRPr lang="fr-FR" sz="1600" dirty="0">
              <a:solidFill>
                <a:schemeClr val="dk1"/>
              </a:solidFill>
              <a:latin typeface="Quicksand Medium"/>
            </a:endParaRPr>
          </a:p>
          <a:p>
            <a:pPr algn="ctr"/>
            <a:r>
              <a:rPr lang="fr-FR" sz="1600" dirty="0">
                <a:solidFill>
                  <a:schemeClr val="bg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Pipeline de modélisation</a:t>
            </a:r>
            <a:endParaRPr lang="fr-FR" sz="1600" dirty="0">
              <a:solidFill>
                <a:schemeClr val="bg1"/>
              </a:solidFill>
              <a:latin typeface="Quicksand Medium"/>
              <a:sym typeface="Quicksan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413" name="Google Shape;413;p43"/>
          <p:cNvSpPr txBox="1"/>
          <p:nvPr/>
        </p:nvSpPr>
        <p:spPr>
          <a:xfrm flipH="1">
            <a:off x="6721746" y="346842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6</a:t>
            </a:r>
            <a:endParaRPr lang="en-US"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414" name="Google Shape;414;p43"/>
          <p:cNvSpPr txBox="1"/>
          <p:nvPr/>
        </p:nvSpPr>
        <p:spPr>
          <a:xfrm flipH="1">
            <a:off x="5609391" y="3907815"/>
            <a:ext cx="2508998" cy="64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2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415" name="Google Shape;415;p43"/>
          <p:cNvSpPr/>
          <p:nvPr/>
        </p:nvSpPr>
        <p:spPr>
          <a:xfrm>
            <a:off x="1492179" y="2827324"/>
            <a:ext cx="267900" cy="267900"/>
          </a:xfrm>
          <a:prstGeom prst="ellipse">
            <a:avLst/>
          </a:prstGeom>
          <a:solidFill>
            <a:schemeClr val="tx2">
              <a:lumMod val="10000"/>
            </a:scheme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3"/>
          <p:cNvSpPr/>
          <p:nvPr/>
        </p:nvSpPr>
        <p:spPr>
          <a:xfrm>
            <a:off x="2474129" y="2827324"/>
            <a:ext cx="267900" cy="267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43"/>
          <p:cNvSpPr/>
          <p:nvPr/>
        </p:nvSpPr>
        <p:spPr>
          <a:xfrm>
            <a:off x="3607381" y="2827324"/>
            <a:ext cx="267900" cy="267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3"/>
          <p:cNvSpPr/>
          <p:nvPr/>
        </p:nvSpPr>
        <p:spPr>
          <a:xfrm>
            <a:off x="4944563" y="2827324"/>
            <a:ext cx="267900" cy="267900"/>
          </a:xfrm>
          <a:prstGeom prst="ellipse">
            <a:avLst/>
          </a:prstGeom>
          <a:solidFill>
            <a:schemeClr val="tx2">
              <a:lumMod val="10000"/>
            </a:scheme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19" name="Google Shape;419;p43"/>
          <p:cNvSpPr/>
          <p:nvPr/>
        </p:nvSpPr>
        <p:spPr>
          <a:xfrm>
            <a:off x="6123873" y="2827324"/>
            <a:ext cx="267900" cy="267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43"/>
          <p:cNvSpPr/>
          <p:nvPr/>
        </p:nvSpPr>
        <p:spPr>
          <a:xfrm>
            <a:off x="7493946" y="2827324"/>
            <a:ext cx="267900" cy="267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2" name="Google Shape;422;p43"/>
          <p:cNvCxnSpPr>
            <a:cxnSpLocks/>
          </p:cNvCxnSpPr>
          <p:nvPr/>
        </p:nvCxnSpPr>
        <p:spPr>
          <a:xfrm rot="10800000">
            <a:off x="1626129" y="2454124"/>
            <a:ext cx="0" cy="373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23" name="Google Shape;423;p43"/>
          <p:cNvCxnSpPr>
            <a:stCxn id="416" idx="4"/>
            <a:endCxn id="409" idx="0"/>
          </p:cNvCxnSpPr>
          <p:nvPr/>
        </p:nvCxnSpPr>
        <p:spPr>
          <a:xfrm>
            <a:off x="2608079" y="3095224"/>
            <a:ext cx="0" cy="373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24" name="Google Shape;424;p43"/>
          <p:cNvCxnSpPr>
            <a:cxnSpLocks/>
            <a:stCxn id="417" idx="0"/>
          </p:cNvCxnSpPr>
          <p:nvPr/>
        </p:nvCxnSpPr>
        <p:spPr>
          <a:xfrm flipV="1">
            <a:off x="3741331" y="2640724"/>
            <a:ext cx="0" cy="1866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25" name="Google Shape;425;p43"/>
          <p:cNvCxnSpPr>
            <a:stCxn id="418" idx="4"/>
            <a:endCxn id="411" idx="0"/>
          </p:cNvCxnSpPr>
          <p:nvPr/>
        </p:nvCxnSpPr>
        <p:spPr>
          <a:xfrm>
            <a:off x="5078513" y="3095224"/>
            <a:ext cx="0" cy="373201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26" name="Google Shape;426;p43"/>
          <p:cNvCxnSpPr>
            <a:stCxn id="420" idx="4"/>
            <a:endCxn id="413" idx="0"/>
          </p:cNvCxnSpPr>
          <p:nvPr/>
        </p:nvCxnSpPr>
        <p:spPr>
          <a:xfrm>
            <a:off x="7627896" y="3095224"/>
            <a:ext cx="0" cy="373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27" name="Google Shape;427;p43"/>
          <p:cNvCxnSpPr>
            <a:cxnSpLocks/>
          </p:cNvCxnSpPr>
          <p:nvPr/>
        </p:nvCxnSpPr>
        <p:spPr>
          <a:xfrm rot="10800000">
            <a:off x="6263349" y="2467570"/>
            <a:ext cx="0" cy="373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29" name="Google Shape;429;p43"/>
          <p:cNvCxnSpPr>
            <a:stCxn id="415" idx="6"/>
            <a:endCxn id="416" idx="2"/>
          </p:cNvCxnSpPr>
          <p:nvPr/>
        </p:nvCxnSpPr>
        <p:spPr>
          <a:xfrm>
            <a:off x="1760079" y="2961274"/>
            <a:ext cx="71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43"/>
          <p:cNvCxnSpPr>
            <a:stCxn id="416" idx="6"/>
            <a:endCxn id="417" idx="2"/>
          </p:cNvCxnSpPr>
          <p:nvPr/>
        </p:nvCxnSpPr>
        <p:spPr>
          <a:xfrm>
            <a:off x="2742029" y="2961274"/>
            <a:ext cx="865352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1" name="Google Shape;431;p43"/>
          <p:cNvCxnSpPr>
            <a:stCxn id="417" idx="6"/>
            <a:endCxn id="418" idx="2"/>
          </p:cNvCxnSpPr>
          <p:nvPr/>
        </p:nvCxnSpPr>
        <p:spPr>
          <a:xfrm>
            <a:off x="3875281" y="2961274"/>
            <a:ext cx="1069282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2" name="Google Shape;432;p43"/>
          <p:cNvCxnSpPr>
            <a:stCxn id="418" idx="6"/>
            <a:endCxn id="419" idx="2"/>
          </p:cNvCxnSpPr>
          <p:nvPr/>
        </p:nvCxnSpPr>
        <p:spPr>
          <a:xfrm>
            <a:off x="5212463" y="2961274"/>
            <a:ext cx="91141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3" name="Google Shape;433;p43"/>
          <p:cNvCxnSpPr>
            <a:stCxn id="419" idx="6"/>
            <a:endCxn id="420" idx="2"/>
          </p:cNvCxnSpPr>
          <p:nvPr/>
        </p:nvCxnSpPr>
        <p:spPr>
          <a:xfrm>
            <a:off x="6391773" y="2961274"/>
            <a:ext cx="1102173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404;p43">
            <a:extLst>
              <a:ext uri="{FF2B5EF4-FFF2-40B4-BE49-F238E27FC236}">
                <a16:creationId xmlns:a16="http://schemas.microsoft.com/office/drawing/2014/main" id="{FFCAE693-C94E-A477-482F-7246ABE92BBF}"/>
              </a:ext>
            </a:extLst>
          </p:cNvPr>
          <p:cNvSpPr txBox="1"/>
          <p:nvPr/>
        </p:nvSpPr>
        <p:spPr>
          <a:xfrm flipH="1">
            <a:off x="4020721" y="3951279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solidFill>
                  <a:schemeClr val="dk1"/>
                </a:solidFill>
                <a:latin typeface="Quicksand Medium"/>
                <a:sym typeface="Quicksand Medium"/>
              </a:rPr>
              <a:t>Simulation : ajout des nouvelles données</a:t>
            </a:r>
            <a:endParaRPr sz="1200" dirty="0">
              <a:solidFill>
                <a:schemeClr val="dk1"/>
              </a:solidFill>
              <a:latin typeface="Quicksand Medium"/>
              <a:sym typeface="Quicksand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422AE-91BB-9F24-06DD-51EE9BB05F54}"/>
              </a:ext>
            </a:extLst>
          </p:cNvPr>
          <p:cNvSpPr txBox="1"/>
          <p:nvPr/>
        </p:nvSpPr>
        <p:spPr>
          <a:xfrm>
            <a:off x="1192840" y="1567090"/>
            <a:ext cx="13688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22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1</a:t>
            </a:r>
            <a:endParaRPr lang="en-FR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01;p43">
            <a:extLst>
              <a:ext uri="{FF2B5EF4-FFF2-40B4-BE49-F238E27FC236}">
                <a16:creationId xmlns:a16="http://schemas.microsoft.com/office/drawing/2014/main" id="{5A80446C-6FA3-E013-A06A-374AD4BD1DAC}"/>
              </a:ext>
            </a:extLst>
          </p:cNvPr>
          <p:cNvSpPr txBox="1"/>
          <p:nvPr/>
        </p:nvSpPr>
        <p:spPr>
          <a:xfrm flipH="1">
            <a:off x="0" y="56053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1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" name="Google Shape;402;p43">
            <a:extLst>
              <a:ext uri="{FF2B5EF4-FFF2-40B4-BE49-F238E27FC236}">
                <a16:creationId xmlns:a16="http://schemas.microsoft.com/office/drawing/2014/main" id="{F38CB365-1851-8D12-2A71-13261D1D9E0E}"/>
              </a:ext>
            </a:extLst>
          </p:cNvPr>
          <p:cNvSpPr txBox="1"/>
          <p:nvPr/>
        </p:nvSpPr>
        <p:spPr>
          <a:xfrm flipH="1">
            <a:off x="42" y="556401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Quicksand Medium"/>
              </a:rPr>
              <a:t>EDA,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choix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variables, feature engineering et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prétraitement</a:t>
            </a:r>
            <a:endParaRPr lang="en-US" sz="1200" dirty="0">
              <a:solidFill>
                <a:schemeClr val="dk1"/>
              </a:solidFill>
              <a:latin typeface="Quicksand Medium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5D18BDC-9180-F115-708A-6F82028ED71A}"/>
              </a:ext>
            </a:extLst>
          </p:cNvPr>
          <p:cNvSpPr txBox="1"/>
          <p:nvPr/>
        </p:nvSpPr>
        <p:spPr>
          <a:xfrm>
            <a:off x="135380" y="1417757"/>
            <a:ext cx="51296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b="1" dirty="0"/>
          </a:p>
          <a:p>
            <a:r>
              <a:rPr lang="fr-FR" dirty="0"/>
              <a:t>1</a:t>
            </a:r>
            <a:r>
              <a:rPr lang="fr-FR" baseline="30000" dirty="0"/>
              <a:t>e</a:t>
            </a:r>
            <a:r>
              <a:rPr lang="fr-FR" dirty="0"/>
              <a:t> étape : Fusion des </a:t>
            </a:r>
            <a:r>
              <a:rPr lang="fr-FR" dirty="0">
                <a:highlight>
                  <a:srgbClr val="53CFA2"/>
                </a:highlight>
              </a:rPr>
              <a:t>8 </a:t>
            </a:r>
            <a:r>
              <a:rPr lang="fr-FR" dirty="0" err="1">
                <a:highlight>
                  <a:srgbClr val="53CFA2"/>
                </a:highlight>
              </a:rPr>
              <a:t>datasets</a:t>
            </a:r>
            <a:r>
              <a:rPr lang="fr-FR" dirty="0">
                <a:highlight>
                  <a:srgbClr val="53CFA2"/>
                </a:highlight>
              </a:rPr>
              <a:t> </a:t>
            </a:r>
            <a:r>
              <a:rPr lang="fr-FR" dirty="0"/>
              <a:t>sur la clé commune </a:t>
            </a:r>
            <a:r>
              <a:rPr lang="fr-FR" dirty="0" err="1">
                <a:highlight>
                  <a:srgbClr val="53CFA2"/>
                </a:highlight>
              </a:rPr>
              <a:t>customer_unique_id</a:t>
            </a:r>
            <a:endParaRPr lang="fr-FR" dirty="0">
              <a:highlight>
                <a:srgbClr val="53CFA2"/>
              </a:highlight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51E9C68-7419-311D-C357-D5C29B73B606}"/>
              </a:ext>
            </a:extLst>
          </p:cNvPr>
          <p:cNvSpPr txBox="1"/>
          <p:nvPr/>
        </p:nvSpPr>
        <p:spPr>
          <a:xfrm>
            <a:off x="4463049" y="56053"/>
            <a:ext cx="6335302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Fusion des 9 </a:t>
            </a:r>
            <a:r>
              <a:rPr lang="fr-FR" dirty="0" err="1"/>
              <a:t>datasets</a:t>
            </a:r>
            <a:r>
              <a:rPr lang="fr-FR" dirty="0"/>
              <a:t> initiaux pour l’EDA: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1000" dirty="0"/>
              <a:t>On ne garde pas la table </a:t>
            </a:r>
            <a:r>
              <a:rPr lang="fr-FR" sz="1000" dirty="0" err="1"/>
              <a:t>sellers</a:t>
            </a:r>
            <a:r>
              <a:rPr lang="fr-FR" sz="1000" dirty="0"/>
              <a:t> </a:t>
            </a:r>
          </a:p>
          <a:p>
            <a:r>
              <a:rPr lang="fr-FR" sz="1000" dirty="0"/>
              <a:t>&gt;&gt; 6 </a:t>
            </a:r>
            <a:r>
              <a:rPr lang="fr-FR" sz="1000" dirty="0" err="1"/>
              <a:t>datasets</a:t>
            </a:r>
            <a:r>
              <a:rPr lang="fr-FR" sz="1000" dirty="0"/>
              <a:t> par mesure de simplification avec ZOOM sur la table </a:t>
            </a:r>
            <a:r>
              <a:rPr lang="fr-FR" sz="1000" dirty="0" err="1"/>
              <a:t>customers</a:t>
            </a:r>
            <a:endParaRPr lang="fr-FR" sz="1000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• Source des données : </a:t>
            </a:r>
          </a:p>
          <a:p>
            <a:r>
              <a:rPr lang="fr-FR" sz="1000" dirty="0">
                <a:hlinkClick r:id="rId3"/>
              </a:rPr>
              <a:t>https://www.kaggle.com/datasets/olistbr/brazilian-ecommerce</a:t>
            </a:r>
            <a:r>
              <a:rPr lang="fr-FR" sz="1000" dirty="0"/>
              <a:t> </a:t>
            </a:r>
            <a:r>
              <a:rPr lang="fr-FR" sz="1000" dirty="0" err="1">
                <a:solidFill>
                  <a:schemeClr val="tx1"/>
                </a:solidFill>
              </a:rPr>
              <a:t>Olist</a:t>
            </a:r>
            <a:r>
              <a:rPr lang="fr-FR" sz="1000" dirty="0">
                <a:solidFill>
                  <a:schemeClr val="tx1"/>
                </a:solidFill>
              </a:rPr>
              <a:t> </a:t>
            </a:r>
            <a:r>
              <a:rPr lang="fr-FR" sz="1000" dirty="0" err="1">
                <a:solidFill>
                  <a:schemeClr val="tx1"/>
                </a:solidFill>
              </a:rPr>
              <a:t>kaggle</a:t>
            </a:r>
            <a:endParaRPr lang="fr-FR" sz="1000" dirty="0">
              <a:solidFill>
                <a:schemeClr val="tx1"/>
              </a:solidFill>
            </a:endParaRPr>
          </a:p>
          <a:p>
            <a:endParaRPr lang="fr-FR" dirty="0"/>
          </a:p>
        </p:txBody>
      </p:sp>
      <p:pic>
        <p:nvPicPr>
          <p:cNvPr id="9" name="Picture 8" descr="A screenshot of a table&#10;&#10;Description automatically generated">
            <a:extLst>
              <a:ext uri="{FF2B5EF4-FFF2-40B4-BE49-F238E27FC236}">
                <a16:creationId xmlns:a16="http://schemas.microsoft.com/office/drawing/2014/main" id="{05E39B08-57C8-D434-82C0-9AC1F00AE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015" y="366110"/>
            <a:ext cx="3835907" cy="2279074"/>
          </a:xfrm>
          <a:prstGeom prst="rect">
            <a:avLst/>
          </a:prstGeom>
        </p:spPr>
      </p:pic>
      <p:pic>
        <p:nvPicPr>
          <p:cNvPr id="7" name="Picture 6" descr="A screenshot of a data table&#10;&#10;Description automatically generated">
            <a:extLst>
              <a:ext uri="{FF2B5EF4-FFF2-40B4-BE49-F238E27FC236}">
                <a16:creationId xmlns:a16="http://schemas.microsoft.com/office/drawing/2014/main" id="{1A84CE19-58D9-2549-E6C1-D87927FFD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624" y="2987079"/>
            <a:ext cx="4056427" cy="1561237"/>
          </a:xfrm>
          <a:prstGeom prst="rect">
            <a:avLst/>
          </a:prstGeom>
        </p:spPr>
      </p:pic>
      <p:pic>
        <p:nvPicPr>
          <p:cNvPr id="8" name="Picture 7" descr="A diagram of a database&#10;&#10;Description automatically generated">
            <a:extLst>
              <a:ext uri="{FF2B5EF4-FFF2-40B4-BE49-F238E27FC236}">
                <a16:creationId xmlns:a16="http://schemas.microsoft.com/office/drawing/2014/main" id="{183A2D68-A6D5-A81A-5C53-F4BB95F85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78" y="2189102"/>
            <a:ext cx="4109889" cy="25221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AFA06C-5D85-A8B5-06AD-80C744E78556}"/>
              </a:ext>
            </a:extLst>
          </p:cNvPr>
          <p:cNvSpPr txBox="1"/>
          <p:nvPr/>
        </p:nvSpPr>
        <p:spPr>
          <a:xfrm>
            <a:off x="4894542" y="3033882"/>
            <a:ext cx="16201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ighlight>
                  <a:srgbClr val="53CFA2"/>
                </a:highlight>
              </a:rPr>
              <a:t>table </a:t>
            </a:r>
            <a:r>
              <a:rPr lang="fr-FR" dirty="0" err="1">
                <a:highlight>
                  <a:srgbClr val="53CFA2"/>
                </a:highlight>
              </a:rPr>
              <a:t>customers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74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01;p43">
            <a:extLst>
              <a:ext uri="{FF2B5EF4-FFF2-40B4-BE49-F238E27FC236}">
                <a16:creationId xmlns:a16="http://schemas.microsoft.com/office/drawing/2014/main" id="{5A80446C-6FA3-E013-A06A-374AD4BD1DAC}"/>
              </a:ext>
            </a:extLst>
          </p:cNvPr>
          <p:cNvSpPr txBox="1"/>
          <p:nvPr/>
        </p:nvSpPr>
        <p:spPr>
          <a:xfrm flipH="1">
            <a:off x="7701094" y="34423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1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5D18BDC-9180-F115-708A-6F82028ED71A}"/>
              </a:ext>
            </a:extLst>
          </p:cNvPr>
          <p:cNvSpPr txBox="1"/>
          <p:nvPr/>
        </p:nvSpPr>
        <p:spPr>
          <a:xfrm>
            <a:off x="4417305" y="76368"/>
            <a:ext cx="40097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b="1" dirty="0"/>
          </a:p>
          <a:p>
            <a:r>
              <a:rPr lang="fr-FR" dirty="0">
                <a:highlight>
                  <a:srgbClr val="53CFA2"/>
                </a:highlight>
              </a:rPr>
              <a:t>Objectif</a:t>
            </a:r>
            <a:r>
              <a:rPr lang="fr-FR" dirty="0"/>
              <a:t> : Il s’agit d’analyser les comportements des utilisateurs leurs préférences d’après les données entre 2016 et 2018 (très peu en 2016)</a:t>
            </a:r>
          </a:p>
          <a:p>
            <a:endParaRPr lang="fr-FR" dirty="0"/>
          </a:p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termes</a:t>
            </a:r>
            <a:r>
              <a:rPr lang="en-US" dirty="0"/>
              <a:t> de </a:t>
            </a:r>
            <a:r>
              <a:rPr lang="en-US" dirty="0" err="1"/>
              <a:t>commandes</a:t>
            </a:r>
            <a:r>
              <a:rPr lang="en-US" dirty="0"/>
              <a:t> et de </a:t>
            </a:r>
            <a:r>
              <a:rPr lang="fr-FR" dirty="0">
                <a:highlight>
                  <a:srgbClr val="53CFA2"/>
                </a:highlight>
              </a:rPr>
              <a:t>satisfaction</a:t>
            </a:r>
            <a:endParaRPr lang="fr-FR" dirty="0"/>
          </a:p>
        </p:txBody>
      </p:sp>
      <p:pic>
        <p:nvPicPr>
          <p:cNvPr id="11" name="Picture 10" descr="A graph with blue bars&#10;&#10;Description automatically generated">
            <a:extLst>
              <a:ext uri="{FF2B5EF4-FFF2-40B4-BE49-F238E27FC236}">
                <a16:creationId xmlns:a16="http://schemas.microsoft.com/office/drawing/2014/main" id="{FE7AF0DB-B289-0C42-8223-D76B821CD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84" y="76368"/>
            <a:ext cx="3834260" cy="2335861"/>
          </a:xfrm>
          <a:prstGeom prst="rect">
            <a:avLst/>
          </a:prstGeom>
        </p:spPr>
      </p:pic>
      <p:pic>
        <p:nvPicPr>
          <p:cNvPr id="10" name="Picture 9" descr="A graph with a number of bars&#10;&#10;Description automatically generated">
            <a:extLst>
              <a:ext uri="{FF2B5EF4-FFF2-40B4-BE49-F238E27FC236}">
                <a16:creationId xmlns:a16="http://schemas.microsoft.com/office/drawing/2014/main" id="{F555489F-B341-6FF2-B43C-C213C023B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818" y="2293055"/>
            <a:ext cx="4301302" cy="2816022"/>
          </a:xfrm>
          <a:prstGeom prst="rect">
            <a:avLst/>
          </a:prstGeom>
        </p:spPr>
      </p:pic>
      <p:pic>
        <p:nvPicPr>
          <p:cNvPr id="3" name="Picture 2" descr="A graph with blue squares&#10;&#10;Description automatically generated">
            <a:extLst>
              <a:ext uri="{FF2B5EF4-FFF2-40B4-BE49-F238E27FC236}">
                <a16:creationId xmlns:a16="http://schemas.microsoft.com/office/drawing/2014/main" id="{5F7C1DEB-AFBA-BA27-A6B8-C6E5144D5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65" y="2534200"/>
            <a:ext cx="3336524" cy="25148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0A9E8-545F-A2A5-32C8-D7BBED3A4BA3}"/>
              </a:ext>
            </a:extLst>
          </p:cNvPr>
          <p:cNvSpPr txBox="1"/>
          <p:nvPr/>
        </p:nvSpPr>
        <p:spPr>
          <a:xfrm>
            <a:off x="0" y="3791621"/>
            <a:ext cx="4756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ighlight>
                  <a:srgbClr val="C0C0C0"/>
                </a:highlight>
              </a:rPr>
              <a:t>quelques </a:t>
            </a:r>
            <a:r>
              <a:rPr lang="fr-FR" dirty="0" err="1">
                <a:highlight>
                  <a:srgbClr val="C0C0C0"/>
                </a:highlight>
              </a:rPr>
              <a:t>outliers</a:t>
            </a:r>
            <a:r>
              <a:rPr lang="fr-FR" dirty="0">
                <a:highlight>
                  <a:srgbClr val="C0C0C0"/>
                </a:highlight>
              </a:rPr>
              <a:t> non satisfaits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3CE3E-42D3-4501-6CA4-2C38E835D12F}"/>
              </a:ext>
            </a:extLst>
          </p:cNvPr>
          <p:cNvSpPr txBox="1"/>
          <p:nvPr/>
        </p:nvSpPr>
        <p:spPr>
          <a:xfrm>
            <a:off x="4962826" y="4258591"/>
            <a:ext cx="4756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ighlight>
                  <a:srgbClr val="C0C0C0"/>
                </a:highlight>
              </a:rPr>
              <a:t>L’écrasante majorité n’effectue </a:t>
            </a:r>
          </a:p>
          <a:p>
            <a:r>
              <a:rPr lang="fr-FR" dirty="0">
                <a:highlight>
                  <a:srgbClr val="C0C0C0"/>
                </a:highlight>
              </a:rPr>
              <a:t>qu’une seule commande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C5649-7E78-6165-3790-E263BF5ADBA8}"/>
              </a:ext>
            </a:extLst>
          </p:cNvPr>
          <p:cNvSpPr txBox="1"/>
          <p:nvPr/>
        </p:nvSpPr>
        <p:spPr>
          <a:xfrm>
            <a:off x="143316" y="166884"/>
            <a:ext cx="50160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ighlight>
                  <a:srgbClr val="C0C0C0"/>
                </a:highlight>
              </a:rPr>
              <a:t>Données du site e-commerce </a:t>
            </a:r>
            <a:r>
              <a:rPr lang="fr-FR" dirty="0" err="1">
                <a:highlight>
                  <a:srgbClr val="C0C0C0"/>
                </a:highlight>
              </a:rPr>
              <a:t>Olist</a:t>
            </a:r>
            <a:r>
              <a:rPr lang="fr-FR" dirty="0">
                <a:highlight>
                  <a:srgbClr val="C0C0C0"/>
                </a:highlight>
              </a:rPr>
              <a:t> entre 2016 et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71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CDE82863-061A-EEAC-2237-AB3E55C35897}"/>
              </a:ext>
            </a:extLst>
          </p:cNvPr>
          <p:cNvSpPr txBox="1"/>
          <p:nvPr/>
        </p:nvSpPr>
        <p:spPr>
          <a:xfrm>
            <a:off x="5793644" y="2417861"/>
            <a:ext cx="533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>
                <a:highlight>
                  <a:srgbClr val="53CFA2"/>
                </a:highlight>
                <a:latin typeface="Söhne"/>
              </a:rPr>
              <a:t>Feature</a:t>
            </a:r>
            <a:r>
              <a:rPr lang="fr-FR" dirty="0">
                <a:highlight>
                  <a:srgbClr val="53CFA2"/>
                </a:highlight>
                <a:latin typeface="Söhne"/>
              </a:rPr>
              <a:t> engineering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D59A2D-5480-6013-0D34-3844E1B08B9E}"/>
              </a:ext>
            </a:extLst>
          </p:cNvPr>
          <p:cNvSpPr txBox="1"/>
          <p:nvPr/>
        </p:nvSpPr>
        <p:spPr>
          <a:xfrm>
            <a:off x="1582723" y="164392"/>
            <a:ext cx="6413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Les variables </a:t>
            </a:r>
            <a:r>
              <a:rPr lang="en-US" sz="2000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utilisées</a:t>
            </a:r>
            <a:r>
              <a:rPr lang="en-US" sz="2000" dirty="0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 pour la segmentation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C0E6CD-0B8B-2DEE-0339-9BECF3BCF265}"/>
              </a:ext>
            </a:extLst>
          </p:cNvPr>
          <p:cNvSpPr txBox="1"/>
          <p:nvPr/>
        </p:nvSpPr>
        <p:spPr>
          <a:xfrm>
            <a:off x="56811" y="593774"/>
            <a:ext cx="84606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sélectionne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des variables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représentatives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du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comportement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d'achat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et des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préférences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clients qui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traduisent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pour un client unique :</a:t>
            </a:r>
            <a:endParaRPr lang="en-US" dirty="0"/>
          </a:p>
          <a:p>
            <a:pPr algn="l"/>
            <a:r>
              <a:rPr lang="en-US" dirty="0"/>
              <a:t>-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note de satisfaction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le client a mis </a:t>
            </a:r>
            <a:r>
              <a:rPr lang="en-US" dirty="0" err="1"/>
              <a:t>une</a:t>
            </a:r>
            <a:r>
              <a:rPr lang="en-US" dirty="0"/>
              <a:t> note </a:t>
            </a:r>
            <a:r>
              <a:rPr lang="en-US" dirty="0" err="1"/>
              <a:t>parfaite</a:t>
            </a:r>
            <a:r>
              <a:rPr lang="en-US" dirty="0"/>
              <a:t> de 5/5 </a:t>
            </a:r>
            <a:r>
              <a:rPr lang="en-US" dirty="0" err="1"/>
              <a:t>ou</a:t>
            </a:r>
            <a:r>
              <a:rPr lang="en-US" dirty="0"/>
              <a:t> non), 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- son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nombre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de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commandes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</a:t>
            </a:r>
            <a:r>
              <a:rPr lang="en-US" dirty="0"/>
              <a:t> (</a:t>
            </a:r>
            <a:r>
              <a:rPr lang="en-US" dirty="0" err="1"/>
              <a:t>si</a:t>
            </a:r>
            <a:r>
              <a:rPr lang="en-US" dirty="0"/>
              <a:t> le client a </a:t>
            </a:r>
            <a:r>
              <a:rPr lang="en-US" dirty="0" err="1"/>
              <a:t>ou</a:t>
            </a:r>
            <a:r>
              <a:rPr lang="en-US" dirty="0"/>
              <a:t> non </a:t>
            </a:r>
            <a:r>
              <a:rPr lang="en-US" dirty="0" err="1"/>
              <a:t>effectué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commandes</a:t>
            </a:r>
            <a:r>
              <a:rPr lang="en-US" dirty="0"/>
              <a:t>),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algn="l"/>
            <a:endParaRPr lang="en-US" dirty="0"/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-le 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prix total des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commandes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effectuées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-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le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nombre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d’items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total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commandés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.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16A16B-A848-155B-2F05-B9C96FD39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33" y="2683686"/>
            <a:ext cx="7772400" cy="674084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199D554-94CC-81C9-7120-6B603EFD9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243" y="3315818"/>
            <a:ext cx="6820250" cy="166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9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3FEE24-89D2-D82A-A473-BB749A457446}"/>
              </a:ext>
            </a:extLst>
          </p:cNvPr>
          <p:cNvSpPr txBox="1"/>
          <p:nvPr/>
        </p:nvSpPr>
        <p:spPr>
          <a:xfrm>
            <a:off x="291829" y="371147"/>
            <a:ext cx="874516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Avant de passer au clustering, nous </a:t>
            </a:r>
            <a:r>
              <a:rPr lang="en-US" dirty="0" err="1"/>
              <a:t>devons</a:t>
            </a:r>
            <a:r>
              <a:rPr lang="en-US" dirty="0"/>
              <a:t> </a:t>
            </a:r>
            <a:r>
              <a:rPr lang="en-US" dirty="0" err="1"/>
              <a:t>prétraiter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caractéristiques</a:t>
            </a:r>
            <a:r>
              <a:rPr lang="en-US" dirty="0"/>
              <a:t>. </a:t>
            </a:r>
            <a:r>
              <a:rPr lang="en-US" dirty="0" err="1"/>
              <a:t>Cela</a:t>
            </a:r>
            <a:r>
              <a:rPr lang="en-US" dirty="0"/>
              <a:t> </a:t>
            </a:r>
            <a:r>
              <a:rPr lang="en-US" dirty="0" err="1"/>
              <a:t>implique</a:t>
            </a:r>
            <a:r>
              <a:rPr lang="en-US" dirty="0"/>
              <a:t> :</a:t>
            </a:r>
          </a:p>
          <a:p>
            <a:endParaRPr lang="en-US" dirty="0"/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374151"/>
                </a:solidFill>
                <a:effectLst/>
                <a:latin typeface="Söhne"/>
              </a:rPr>
              <a:t>Division des </a:t>
            </a:r>
            <a:r>
              <a:rPr lang="en-US" b="1" i="0" u="none" strike="noStrike" dirty="0" err="1">
                <a:solidFill>
                  <a:srgbClr val="374151"/>
                </a:solidFill>
                <a:effectLst/>
                <a:latin typeface="Söhne"/>
              </a:rPr>
              <a:t>Caractéristiques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caractéristiques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divisées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deux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groupes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num_cols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qui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contient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caractéristiques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numériques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 '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total_payment_value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' et '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total_products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'.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cat_cols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qui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contient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caractéristiques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catégorielles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 '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perfect_score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' et '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has_multiple_orders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’.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374151"/>
                </a:solidFill>
                <a:effectLst/>
                <a:latin typeface="Söhne"/>
              </a:rPr>
              <a:t>Conversion des Types de </a:t>
            </a:r>
            <a:r>
              <a:rPr lang="en-US" b="1" i="0" u="none" strike="noStrike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colonnes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catégorielles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, qui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type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booléen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converties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entiers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(int) pour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faciliter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traitement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ultérieur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374151"/>
                </a:solidFill>
                <a:effectLst/>
                <a:latin typeface="Söhne"/>
              </a:rPr>
              <a:t>Imputation des </a:t>
            </a:r>
            <a:r>
              <a:rPr lang="en-US" b="1" i="0" u="none" strike="noStrike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1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u="none" strike="noStrike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Pour les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caractéristiques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numériques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,les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imputées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utilisant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la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médiane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disponibles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Cette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opération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effectuée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à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l'aide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SimpleImputer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avec la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stratégie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'median'.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Pour les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caractéristiques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catégorielles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imputées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utilisant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la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valeur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la plus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fréquente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dans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disponibles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Cette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opération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également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effectuée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à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l'aide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SimpleImputer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mais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avec la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stratégie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'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most_frequent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’.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u="none" strike="noStrike" dirty="0" err="1">
                <a:solidFill>
                  <a:srgbClr val="374151"/>
                </a:solidFill>
                <a:effectLst/>
                <a:latin typeface="Söhne"/>
              </a:rPr>
              <a:t>Normalisation</a:t>
            </a:r>
            <a:r>
              <a:rPr lang="en-US" b="1" i="0" u="none" strike="noStrike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1" i="0" u="none" strike="noStrike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normalisées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à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l'aide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dirty="0" err="1">
                <a:highlight>
                  <a:srgbClr val="53CFA2"/>
                </a:highlight>
                <a:latin typeface="Söhne"/>
              </a:rPr>
              <a:t>StandardScaler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 On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s'assure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que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toutes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caractéristiques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la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même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échelle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qui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important pour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algorithmes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clustering qui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sensibles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à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l'échelle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caractéristiques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normalisées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stockées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dans la variable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data_scaled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2817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09;p43">
            <a:extLst>
              <a:ext uri="{FF2B5EF4-FFF2-40B4-BE49-F238E27FC236}">
                <a16:creationId xmlns:a16="http://schemas.microsoft.com/office/drawing/2014/main" id="{5C3B707B-6084-A78F-A25E-02EB62E74FA3}"/>
              </a:ext>
            </a:extLst>
          </p:cNvPr>
          <p:cNvSpPr txBox="1"/>
          <p:nvPr/>
        </p:nvSpPr>
        <p:spPr>
          <a:xfrm flipH="1">
            <a:off x="7031620" y="1054293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2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" name="Google Shape;410;p43">
            <a:extLst>
              <a:ext uri="{FF2B5EF4-FFF2-40B4-BE49-F238E27FC236}">
                <a16:creationId xmlns:a16="http://schemas.microsoft.com/office/drawing/2014/main" id="{EB446DFF-1DCD-3A02-1052-6AFE9C00AF7C}"/>
              </a:ext>
            </a:extLst>
          </p:cNvPr>
          <p:cNvSpPr txBox="1"/>
          <p:nvPr/>
        </p:nvSpPr>
        <p:spPr>
          <a:xfrm flipH="1">
            <a:off x="7031620" y="1507915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fr-FR" sz="1200" dirty="0">
                <a:solidFill>
                  <a:schemeClr val="dk1"/>
                </a:solidFill>
                <a:latin typeface="Quicksand Medium"/>
              </a:rPr>
              <a:t>Modèles non supervisés de clustering K-</a:t>
            </a:r>
            <a:r>
              <a:rPr lang="fr-FR" sz="1200" dirty="0" err="1">
                <a:solidFill>
                  <a:schemeClr val="dk1"/>
                </a:solidFill>
                <a:latin typeface="Quicksand Medium"/>
              </a:rPr>
              <a:t>means</a:t>
            </a:r>
            <a:r>
              <a:rPr lang="fr-FR" sz="1200" dirty="0">
                <a:solidFill>
                  <a:schemeClr val="dk1"/>
                </a:solidFill>
                <a:latin typeface="Quicksand Medium"/>
              </a:rPr>
              <a:t> versus </a:t>
            </a:r>
            <a:r>
              <a:rPr lang="fr-FR" sz="1200" dirty="0" err="1">
                <a:solidFill>
                  <a:schemeClr val="dk1"/>
                </a:solidFill>
                <a:latin typeface="Quicksand Medium"/>
              </a:rPr>
              <a:t>DBscan</a:t>
            </a:r>
            <a:endParaRPr lang="fr-FR" sz="1200" dirty="0">
              <a:solidFill>
                <a:schemeClr val="dk1"/>
              </a:solidFill>
              <a:latin typeface="Quicksan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200" dirty="0">
              <a:solidFill>
                <a:schemeClr val="dk1"/>
              </a:solidFill>
              <a:latin typeface="Quicksand Medium"/>
              <a:sym typeface="Quicksand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BD827-61DD-A3C3-AFD4-8144CF00D506}"/>
              </a:ext>
            </a:extLst>
          </p:cNvPr>
          <p:cNvSpPr txBox="1"/>
          <p:nvPr/>
        </p:nvSpPr>
        <p:spPr>
          <a:xfrm>
            <a:off x="469715" y="1340643"/>
            <a:ext cx="60696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53CFA2"/>
                </a:highlight>
                <a:latin typeface="Söhne"/>
              </a:rPr>
              <a:t>DBSCAN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: </a:t>
            </a:r>
          </a:p>
          <a:p>
            <a:endParaRPr lang="en-US" dirty="0">
              <a:latin typeface="Söhne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Il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s'agit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d'un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algorithme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de clustering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basé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sur 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densité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qui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groupe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ensemble les points qui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sont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proches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les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uns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des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autres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en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fonction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d'un rayon epsilon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donné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, tout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en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identifiant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les points qui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sont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isolés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comme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des bruits</a:t>
            </a:r>
          </a:p>
          <a:p>
            <a:pPr algn="l"/>
            <a:endParaRPr lang="en-US" dirty="0">
              <a:highlight>
                <a:srgbClr val="53CFA2"/>
              </a:highlight>
              <a:latin typeface="Söhne"/>
            </a:endParaRPr>
          </a:p>
          <a:p>
            <a:pPr algn="l"/>
            <a:endParaRPr lang="en-US" dirty="0">
              <a:highlight>
                <a:srgbClr val="53CFA2"/>
              </a:highlight>
              <a:latin typeface="Söhne"/>
            </a:endParaRPr>
          </a:p>
          <a:p>
            <a:pPr algn="l"/>
            <a:r>
              <a:rPr lang="en-US" dirty="0" err="1">
                <a:highlight>
                  <a:srgbClr val="53CFA2"/>
                </a:highlight>
                <a:latin typeface="Söhne"/>
              </a:rPr>
              <a:t>KMeans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: </a:t>
            </a:r>
          </a:p>
          <a:p>
            <a:pPr algn="l"/>
            <a:endParaRPr lang="en-US" dirty="0">
              <a:latin typeface="Söhne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Il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s'agit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d'un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algorithme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de clustering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basé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sur les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centres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qui vise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à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partitionner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un ensemble de points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en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K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groupes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où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chaque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point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appartient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au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groupe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dont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le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centre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le plus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proche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5DF3A-7ED5-374F-8895-75D8C16949AA}"/>
              </a:ext>
            </a:extLst>
          </p:cNvPr>
          <p:cNvSpPr txBox="1"/>
          <p:nvPr/>
        </p:nvSpPr>
        <p:spPr>
          <a:xfrm>
            <a:off x="885217" y="313348"/>
            <a:ext cx="7052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Méthodes</a:t>
            </a:r>
            <a:r>
              <a:rPr lang="en-US" sz="2000" dirty="0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 non </a:t>
            </a:r>
            <a:r>
              <a:rPr lang="en-US" sz="2000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supervisées</a:t>
            </a:r>
            <a:r>
              <a:rPr lang="en-US" sz="2000" dirty="0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 K-means versus </a:t>
            </a:r>
            <a:r>
              <a:rPr lang="en-US" sz="2000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DBscan</a:t>
            </a:r>
            <a:endParaRPr lang="en-US" sz="2000" dirty="0">
              <a:solidFill>
                <a:schemeClr val="dk1"/>
              </a:solidFill>
              <a:latin typeface="Poppins Medium"/>
              <a:cs typeface="Poppins Medium"/>
              <a:sym typeface="Poppi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95423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09;p43">
            <a:extLst>
              <a:ext uri="{FF2B5EF4-FFF2-40B4-BE49-F238E27FC236}">
                <a16:creationId xmlns:a16="http://schemas.microsoft.com/office/drawing/2014/main" id="{5C3B707B-6084-A78F-A25E-02EB62E74FA3}"/>
              </a:ext>
            </a:extLst>
          </p:cNvPr>
          <p:cNvSpPr txBox="1"/>
          <p:nvPr/>
        </p:nvSpPr>
        <p:spPr>
          <a:xfrm flipH="1">
            <a:off x="7331700" y="5911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2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" name="Google Shape;410;p43">
            <a:extLst>
              <a:ext uri="{FF2B5EF4-FFF2-40B4-BE49-F238E27FC236}">
                <a16:creationId xmlns:a16="http://schemas.microsoft.com/office/drawing/2014/main" id="{EB446DFF-1DCD-3A02-1052-6AFE9C00AF7C}"/>
              </a:ext>
            </a:extLst>
          </p:cNvPr>
          <p:cNvSpPr txBox="1"/>
          <p:nvPr/>
        </p:nvSpPr>
        <p:spPr>
          <a:xfrm flipH="1">
            <a:off x="7331700" y="512737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fr-FR" sz="1200" dirty="0">
                <a:solidFill>
                  <a:schemeClr val="dk1"/>
                </a:solidFill>
                <a:latin typeface="Quicksand Medium"/>
              </a:rPr>
              <a:t>Modèles non supervisés de clustering K-</a:t>
            </a:r>
            <a:r>
              <a:rPr lang="fr-FR" sz="1200" dirty="0" err="1">
                <a:solidFill>
                  <a:schemeClr val="dk1"/>
                </a:solidFill>
                <a:latin typeface="Quicksand Medium"/>
              </a:rPr>
              <a:t>means</a:t>
            </a:r>
            <a:r>
              <a:rPr lang="fr-FR" sz="1200" dirty="0">
                <a:solidFill>
                  <a:schemeClr val="dk1"/>
                </a:solidFill>
                <a:latin typeface="Quicksand Medium"/>
              </a:rPr>
              <a:t> versus </a:t>
            </a:r>
            <a:r>
              <a:rPr lang="fr-FR" sz="1200" dirty="0" err="1">
                <a:solidFill>
                  <a:schemeClr val="dk1"/>
                </a:solidFill>
                <a:latin typeface="Quicksand Medium"/>
              </a:rPr>
              <a:t>DBscan</a:t>
            </a:r>
            <a:endParaRPr lang="fr-FR" sz="1200" dirty="0">
              <a:solidFill>
                <a:schemeClr val="dk1"/>
              </a:solidFill>
              <a:latin typeface="Quicksan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200" dirty="0">
              <a:solidFill>
                <a:schemeClr val="dk1"/>
              </a:solidFill>
              <a:latin typeface="Quicksand Medium"/>
              <a:sym typeface="Quicksand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BD827-61DD-A3C3-AFD4-8144CF00D506}"/>
              </a:ext>
            </a:extLst>
          </p:cNvPr>
          <p:cNvSpPr txBox="1"/>
          <p:nvPr/>
        </p:nvSpPr>
        <p:spPr>
          <a:xfrm>
            <a:off x="261898" y="1075278"/>
            <a:ext cx="479501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0" i="0" dirty="0">
              <a:solidFill>
                <a:srgbClr val="000000"/>
              </a:solidFill>
              <a:effectLst/>
              <a:latin typeface="Söhne"/>
            </a:endParaRPr>
          </a:p>
          <a:p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Le score de Davies-Bouldin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métrique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d'évaluation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des clusters. Il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défini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comme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le rapport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moyen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des «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mesures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similarité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» entre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chaque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cluster et le cluster le plus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similaire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qui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n'est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pas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lui-même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 La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mesure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similarité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le rapport de la distance intra-cluster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à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la distance inter-cluster. Plus le score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faible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meilleur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modèle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, car un score plus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faible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signifie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que les points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plus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proches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uns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autres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dans le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même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cluster et plus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éloignés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des points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d'autres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clusters.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Söhne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Söhne"/>
            </a:endParaRPr>
          </a:p>
          <a:p>
            <a:pPr algn="l"/>
            <a:r>
              <a:rPr lang="en-US" dirty="0">
                <a:highlight>
                  <a:srgbClr val="53CFA2"/>
                </a:highlight>
                <a:latin typeface="Söhne"/>
              </a:rPr>
              <a:t>Scores de Davies-Bouldin pour DBSCAN et k-means : </a:t>
            </a:r>
          </a:p>
          <a:p>
            <a:pPr algn="l"/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KMeans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a un score plus bas,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qui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suggère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que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clusters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plus compacts et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mieux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séparés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par rapport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à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DBSCAN.</a:t>
            </a:r>
            <a:br>
              <a:rPr lang="en-US" b="0" i="0" dirty="0">
                <a:solidFill>
                  <a:srgbClr val="000000"/>
                </a:solidFill>
                <a:effectLst/>
                <a:latin typeface="Söhne"/>
              </a:rPr>
            </a:br>
            <a:endParaRPr lang="en-US" b="0" i="0" dirty="0">
              <a:solidFill>
                <a:srgbClr val="000000"/>
              </a:solidFill>
              <a:effectLst/>
              <a:latin typeface="Söhn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5DF3A-7ED5-374F-8895-75D8C16949AA}"/>
              </a:ext>
            </a:extLst>
          </p:cNvPr>
          <p:cNvSpPr txBox="1"/>
          <p:nvPr/>
        </p:nvSpPr>
        <p:spPr>
          <a:xfrm>
            <a:off x="885217" y="313348"/>
            <a:ext cx="7052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Méthodes</a:t>
            </a:r>
            <a:r>
              <a:rPr lang="en-US" sz="2000" dirty="0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 non </a:t>
            </a:r>
            <a:r>
              <a:rPr lang="en-US" sz="2000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supervisées</a:t>
            </a:r>
            <a:r>
              <a:rPr lang="en-US" sz="2000" dirty="0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 K-means versus </a:t>
            </a:r>
            <a:r>
              <a:rPr lang="en-US" sz="2000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DBscan</a:t>
            </a:r>
            <a:endParaRPr lang="en-US" sz="2000" dirty="0">
              <a:solidFill>
                <a:schemeClr val="dk1"/>
              </a:solidFill>
              <a:latin typeface="Poppins Medium"/>
              <a:cs typeface="Poppins Medium"/>
              <a:sym typeface="Poppins Medium"/>
            </a:endParaRPr>
          </a:p>
        </p:txBody>
      </p:sp>
      <p:pic>
        <p:nvPicPr>
          <p:cNvPr id="10" name="Picture 9" descr="A graph with blue squares&#10;&#10;Description automatically generated">
            <a:extLst>
              <a:ext uri="{FF2B5EF4-FFF2-40B4-BE49-F238E27FC236}">
                <a16:creationId xmlns:a16="http://schemas.microsoft.com/office/drawing/2014/main" id="{7DC1C94A-065C-807F-5587-9035EC231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716" y="1786690"/>
            <a:ext cx="3505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75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dots on a white background&#10;&#10;Description automatically generated">
            <a:extLst>
              <a:ext uri="{FF2B5EF4-FFF2-40B4-BE49-F238E27FC236}">
                <a16:creationId xmlns:a16="http://schemas.microsoft.com/office/drawing/2014/main" id="{97DD3D32-6220-5DBB-2D1D-0D25D85AA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6" y="985758"/>
            <a:ext cx="3721395" cy="3829523"/>
          </a:xfrm>
          <a:prstGeom prst="rect">
            <a:avLst/>
          </a:prstGeom>
        </p:spPr>
      </p:pic>
      <p:pic>
        <p:nvPicPr>
          <p:cNvPr id="4" name="Picture 3" descr="A colorful diagram of a brain&#10;&#10;Description automatically generated">
            <a:extLst>
              <a:ext uri="{FF2B5EF4-FFF2-40B4-BE49-F238E27FC236}">
                <a16:creationId xmlns:a16="http://schemas.microsoft.com/office/drawing/2014/main" id="{89AEEB49-92B5-0DB4-9E93-B3CDE8E24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788" y="985758"/>
            <a:ext cx="3492500" cy="3873500"/>
          </a:xfrm>
          <a:prstGeom prst="rect">
            <a:avLst/>
          </a:prstGeom>
        </p:spPr>
      </p:pic>
      <p:sp>
        <p:nvSpPr>
          <p:cNvPr id="5" name="Google Shape;410;p43">
            <a:extLst>
              <a:ext uri="{FF2B5EF4-FFF2-40B4-BE49-F238E27FC236}">
                <a16:creationId xmlns:a16="http://schemas.microsoft.com/office/drawing/2014/main" id="{B2702630-9AA2-4874-0CA3-282FB353ACA5}"/>
              </a:ext>
            </a:extLst>
          </p:cNvPr>
          <p:cNvSpPr txBox="1"/>
          <p:nvPr/>
        </p:nvSpPr>
        <p:spPr>
          <a:xfrm flipH="1">
            <a:off x="218364" y="212463"/>
            <a:ext cx="3658428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fr-FR" sz="1200" dirty="0">
                <a:solidFill>
                  <a:schemeClr val="dk1"/>
                </a:solidFill>
                <a:latin typeface="Quicksand Medium"/>
              </a:rPr>
              <a:t>Visualisation des clusters avec le modèle </a:t>
            </a:r>
            <a:r>
              <a:rPr lang="fr-FR" sz="1200" dirty="0" err="1">
                <a:solidFill>
                  <a:schemeClr val="dk1"/>
                </a:solidFill>
                <a:latin typeface="Quicksand Medium"/>
              </a:rPr>
              <a:t>DBscan</a:t>
            </a:r>
            <a:endParaRPr lang="fr-FR" sz="1200" dirty="0">
              <a:solidFill>
                <a:schemeClr val="dk1"/>
              </a:solidFill>
              <a:latin typeface="Quicksand Medium"/>
              <a:sym typeface="Quicksand Medium"/>
            </a:endParaRPr>
          </a:p>
        </p:txBody>
      </p:sp>
      <p:sp>
        <p:nvSpPr>
          <p:cNvPr id="6" name="Google Shape;410;p43">
            <a:extLst>
              <a:ext uri="{FF2B5EF4-FFF2-40B4-BE49-F238E27FC236}">
                <a16:creationId xmlns:a16="http://schemas.microsoft.com/office/drawing/2014/main" id="{2864E23D-E2DB-77BF-DEFB-DA3740B843EF}"/>
              </a:ext>
            </a:extLst>
          </p:cNvPr>
          <p:cNvSpPr txBox="1"/>
          <p:nvPr/>
        </p:nvSpPr>
        <p:spPr>
          <a:xfrm flipH="1">
            <a:off x="4572000" y="212463"/>
            <a:ext cx="3658428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fr-FR" sz="1200" dirty="0">
                <a:solidFill>
                  <a:schemeClr val="dk1"/>
                </a:solidFill>
                <a:latin typeface="Quicksand Medium"/>
              </a:rPr>
              <a:t>Visualisation des clusters avec le modèle </a:t>
            </a:r>
          </a:p>
          <a:p>
            <a:pPr algn="ctr"/>
            <a:r>
              <a:rPr lang="fr-FR" sz="1200" dirty="0">
                <a:solidFill>
                  <a:schemeClr val="dk1"/>
                </a:solidFill>
                <a:latin typeface="Quicksand Medium"/>
              </a:rPr>
              <a:t>K-</a:t>
            </a:r>
            <a:r>
              <a:rPr lang="fr-FR" sz="1200" dirty="0" err="1">
                <a:solidFill>
                  <a:schemeClr val="dk1"/>
                </a:solidFill>
                <a:latin typeface="Quicksand Medium"/>
              </a:rPr>
              <a:t>means</a:t>
            </a:r>
            <a:endParaRPr lang="fr-FR" sz="1200" dirty="0">
              <a:solidFill>
                <a:schemeClr val="dk1"/>
              </a:solidFill>
              <a:latin typeface="Quicksand Medium"/>
              <a:sym typeface="Quicksand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D6ACC8-49AB-9880-2BAE-78C183952AAB}"/>
              </a:ext>
            </a:extLst>
          </p:cNvPr>
          <p:cNvSpPr txBox="1"/>
          <p:nvPr/>
        </p:nvSpPr>
        <p:spPr>
          <a:xfrm>
            <a:off x="181788" y="47771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53CFA2"/>
                </a:highlight>
                <a:latin typeface="Söhne"/>
              </a:rPr>
              <a:t>DBSCAN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: 15 clusters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B87AD2-A4A4-5373-EB0E-D9B6216AD0DF}"/>
              </a:ext>
            </a:extLst>
          </p:cNvPr>
          <p:cNvSpPr txBox="1"/>
          <p:nvPr/>
        </p:nvSpPr>
        <p:spPr>
          <a:xfrm>
            <a:off x="4898066" y="476721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53CFA2"/>
                </a:highlight>
                <a:latin typeface="Söhne"/>
              </a:rPr>
              <a:t>K-means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: 4 clusters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clairement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öhne"/>
              </a:rPr>
              <a:t>identifiables</a:t>
            </a:r>
            <a:r>
              <a:rPr lang="en-US" b="0" i="0" dirty="0">
                <a:solidFill>
                  <a:srgbClr val="000000"/>
                </a:solidFill>
                <a:effectLst/>
                <a:latin typeface="Söhne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866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Choix du </a:t>
            </a:r>
            <a:r>
              <a:rPr lang="en-GB" dirty="0" err="1"/>
              <a:t>modèle</a:t>
            </a:r>
            <a:r>
              <a:rPr lang="en-GB" dirty="0"/>
              <a:t> : K-means</a:t>
            </a:r>
          </a:p>
        </p:txBody>
      </p:sp>
      <p:sp>
        <p:nvSpPr>
          <p:cNvPr id="2" name="Google Shape;403;p43">
            <a:extLst>
              <a:ext uri="{FF2B5EF4-FFF2-40B4-BE49-F238E27FC236}">
                <a16:creationId xmlns:a16="http://schemas.microsoft.com/office/drawing/2014/main" id="{C3DE99EB-ACFA-7FD6-FA3D-586A0C34F1F3}"/>
              </a:ext>
            </a:extLst>
          </p:cNvPr>
          <p:cNvSpPr txBox="1"/>
          <p:nvPr/>
        </p:nvSpPr>
        <p:spPr>
          <a:xfrm flipH="1">
            <a:off x="6813540" y="2390917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sym typeface="Quicksand SemiBold"/>
              </a:rPr>
              <a:t>Step</a:t>
            </a:r>
            <a:r>
              <a:rPr lang="en" sz="36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Quicksand Medium"/>
              </a:rPr>
              <a:t>Choix du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modèle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et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caractéristiques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clusters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47FF1-3590-C042-D0A4-424210930297}"/>
              </a:ext>
            </a:extLst>
          </p:cNvPr>
          <p:cNvSpPr txBox="1"/>
          <p:nvPr/>
        </p:nvSpPr>
        <p:spPr>
          <a:xfrm>
            <a:off x="1037390" y="1107148"/>
            <a:ext cx="53113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Recherche du </a:t>
            </a:r>
            <a:r>
              <a:rPr lang="en-US" dirty="0" err="1"/>
              <a:t>nombre</a:t>
            </a:r>
            <a:r>
              <a:rPr lang="en-US" dirty="0"/>
              <a:t> optimal de clusters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utilisant</a:t>
            </a:r>
            <a:r>
              <a:rPr lang="en-US" dirty="0"/>
              <a:t> le score de silhouette et la </a:t>
            </a:r>
            <a:r>
              <a:rPr lang="en-US" dirty="0" err="1"/>
              <a:t>méthode</a:t>
            </a:r>
            <a:r>
              <a:rPr lang="en-US" dirty="0"/>
              <a:t> du </a:t>
            </a:r>
            <a:r>
              <a:rPr lang="en-US" dirty="0" err="1"/>
              <a:t>coude</a:t>
            </a:r>
            <a:r>
              <a:rPr lang="en-US" dirty="0"/>
              <a:t> :</a:t>
            </a:r>
          </a:p>
        </p:txBody>
      </p:sp>
      <p:pic>
        <p:nvPicPr>
          <p:cNvPr id="4" name="Picture 3" descr="A graph of a graph of a graph of a graph of a graph of a graph of a graph of a graph of a graph of a graph of a graph of a graph of a graph of&#10;&#10;Description automatically generated">
            <a:extLst>
              <a:ext uri="{FF2B5EF4-FFF2-40B4-BE49-F238E27FC236}">
                <a16:creationId xmlns:a16="http://schemas.microsoft.com/office/drawing/2014/main" id="{C9EBBE79-534F-067F-C12A-334586704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386" y="1904275"/>
            <a:ext cx="5114909" cy="25717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720000" y="1776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Modélisations</a:t>
            </a:r>
            <a:r>
              <a:rPr lang="en-GB" dirty="0"/>
              <a:t> et </a:t>
            </a:r>
            <a:r>
              <a:rPr lang="en-GB" dirty="0" err="1"/>
              <a:t>prédictions</a:t>
            </a:r>
            <a:endParaRPr lang="en-GB" dirty="0"/>
          </a:p>
        </p:txBody>
      </p:sp>
      <p:sp>
        <p:nvSpPr>
          <p:cNvPr id="2" name="Google Shape;403;p43">
            <a:extLst>
              <a:ext uri="{FF2B5EF4-FFF2-40B4-BE49-F238E27FC236}">
                <a16:creationId xmlns:a16="http://schemas.microsoft.com/office/drawing/2014/main" id="{C3DE99EB-ACFA-7FD6-FA3D-586A0C34F1F3}"/>
              </a:ext>
            </a:extLst>
          </p:cNvPr>
          <p:cNvSpPr txBox="1"/>
          <p:nvPr/>
        </p:nvSpPr>
        <p:spPr>
          <a:xfrm flipH="1">
            <a:off x="7387360" y="965187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sym typeface="Quicksand SemiBold"/>
              </a:rPr>
              <a:t>Step</a:t>
            </a:r>
            <a:r>
              <a:rPr lang="en" sz="36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Quicksand Medium"/>
              </a:rPr>
              <a:t>Choix du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modèle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et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caractéristiques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clusters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9FF02-9F92-C300-C9FB-F32F5FDB42AF}"/>
              </a:ext>
            </a:extLst>
          </p:cNvPr>
          <p:cNvSpPr txBox="1"/>
          <p:nvPr/>
        </p:nvSpPr>
        <p:spPr>
          <a:xfrm>
            <a:off x="260455" y="957739"/>
            <a:ext cx="785812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Söhne"/>
              </a:rPr>
              <a:t> </a:t>
            </a:r>
            <a:r>
              <a:rPr lang="en-US" b="1" i="0" dirty="0" err="1">
                <a:effectLst/>
                <a:latin typeface="Söhne"/>
              </a:rPr>
              <a:t>Intégration</a:t>
            </a:r>
            <a:r>
              <a:rPr lang="en-US" b="1" i="0" dirty="0">
                <a:effectLst/>
                <a:latin typeface="Söhne"/>
              </a:rPr>
              <a:t> dans </a:t>
            </a:r>
            <a:r>
              <a:rPr lang="en-US" b="1" i="0" dirty="0" err="1">
                <a:effectLst/>
                <a:latin typeface="Söhne"/>
              </a:rPr>
              <a:t>une</a:t>
            </a:r>
            <a:r>
              <a:rPr lang="en-US" b="1" i="0" dirty="0">
                <a:effectLst/>
                <a:latin typeface="Söhne"/>
              </a:rPr>
              <a:t> Pipeline</a:t>
            </a:r>
            <a:endParaRPr lang="en-US" b="0" i="0" dirty="0"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Pipeline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Intégration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du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prétraitement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et du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modèle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KMeans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dans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pipeline pour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exécution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séquentielle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automatisée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/>
            <a:endParaRPr lang="en-US" b="1" i="0" dirty="0">
              <a:effectLst/>
              <a:latin typeface="Söhne"/>
            </a:endParaRPr>
          </a:p>
          <a:p>
            <a:pPr algn="l"/>
            <a:r>
              <a:rPr lang="en-US" b="1" i="0" dirty="0" err="1">
                <a:effectLst/>
                <a:latin typeface="Söhne"/>
              </a:rPr>
              <a:t>Prétraitement</a:t>
            </a:r>
            <a:r>
              <a:rPr lang="en-US" b="1" i="0" dirty="0">
                <a:effectLst/>
                <a:latin typeface="Söhne"/>
              </a:rPr>
              <a:t> des </a:t>
            </a:r>
            <a:r>
              <a:rPr lang="en-US" b="1" i="0" dirty="0" err="1">
                <a:effectLst/>
                <a:latin typeface="Söhne"/>
              </a:rPr>
              <a:t>Données</a:t>
            </a:r>
            <a:endParaRPr lang="en-US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Gestion des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valeurs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manquantes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Variables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Numériques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Imputation par la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médiane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Variables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Catégorielles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Imputation par la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valeur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la plus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fréquente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Standardisation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Application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d'une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standardization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StandardScaler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() des features pour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optimiser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les performances du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Kmeans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457200" lvl="1"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b="1" i="0" dirty="0">
                <a:effectLst/>
                <a:latin typeface="Söhne"/>
              </a:rPr>
              <a:t>Construction du </a:t>
            </a:r>
            <a:r>
              <a:rPr lang="en-US" b="1" i="0" dirty="0" err="1">
                <a:effectLst/>
                <a:latin typeface="Söhne"/>
              </a:rPr>
              <a:t>Modèle</a:t>
            </a:r>
            <a:endParaRPr lang="en-US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Initialisation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KMeans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Nombre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de Clusters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4 (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déterminé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comme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optimal).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Paramètre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de Random State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42 (pour la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reproductibilité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résultats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).</a:t>
            </a:r>
          </a:p>
          <a:p>
            <a:pPr algn="l"/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783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Caractéristiques</a:t>
            </a:r>
            <a:r>
              <a:rPr lang="en-GB" dirty="0"/>
              <a:t> des clusters</a:t>
            </a:r>
          </a:p>
        </p:txBody>
      </p:sp>
      <p:sp>
        <p:nvSpPr>
          <p:cNvPr id="2" name="Google Shape;403;p43">
            <a:extLst>
              <a:ext uri="{FF2B5EF4-FFF2-40B4-BE49-F238E27FC236}">
                <a16:creationId xmlns:a16="http://schemas.microsoft.com/office/drawing/2014/main" id="{C3DE99EB-ACFA-7FD6-FA3D-586A0C34F1F3}"/>
              </a:ext>
            </a:extLst>
          </p:cNvPr>
          <p:cNvSpPr txBox="1"/>
          <p:nvPr/>
        </p:nvSpPr>
        <p:spPr>
          <a:xfrm flipH="1">
            <a:off x="7447511" y="731375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sym typeface="Quicksand SemiBold"/>
              </a:rPr>
              <a:t>Step</a:t>
            </a:r>
            <a:r>
              <a:rPr lang="en" sz="36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3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Quicksand Medium"/>
              </a:rPr>
              <a:t>Choix du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modèle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et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caractéristiques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clusters</a:t>
            </a:r>
          </a:p>
        </p:txBody>
      </p:sp>
      <p:pic>
        <p:nvPicPr>
          <p:cNvPr id="9" name="Picture 8" descr="A diagram of a triangle with different colored triangles&#10;&#10;Description automatically generated">
            <a:extLst>
              <a:ext uri="{FF2B5EF4-FFF2-40B4-BE49-F238E27FC236}">
                <a16:creationId xmlns:a16="http://schemas.microsoft.com/office/drawing/2014/main" id="{1E810777-D57A-19FC-CE87-C7DDD4FF5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259" y="1171074"/>
            <a:ext cx="5013741" cy="3972426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5D683713-3B05-E690-7216-E38628532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66" y="2523888"/>
            <a:ext cx="4665258" cy="2747591"/>
          </a:xfrm>
        </p:spPr>
        <p:txBody>
          <a:bodyPr/>
          <a:lstStyle/>
          <a:p>
            <a:pPr marL="0" indent="0" algn="l">
              <a:buSzPts val="1200"/>
            </a:pPr>
            <a:r>
              <a:rPr lang="en-GB" sz="1400" dirty="0" err="1">
                <a:sym typeface="Quicksand Medium"/>
              </a:rPr>
              <a:t>Comportements</a:t>
            </a:r>
            <a:r>
              <a:rPr lang="en-GB" sz="1400" dirty="0">
                <a:sym typeface="Quicksand Medium"/>
              </a:rPr>
              <a:t> et </a:t>
            </a:r>
            <a:r>
              <a:rPr lang="en-GB" sz="1400" dirty="0" err="1">
                <a:sym typeface="Quicksand Medium"/>
              </a:rPr>
              <a:t>préférences</a:t>
            </a:r>
            <a:r>
              <a:rPr lang="en-GB" sz="1400" dirty="0">
                <a:sym typeface="Quicksand Medium"/>
              </a:rPr>
              <a:t> des clients:</a:t>
            </a:r>
          </a:p>
          <a:p>
            <a:pPr marL="0" indent="0" algn="l">
              <a:buSzPts val="1200"/>
            </a:pPr>
            <a:endParaRPr lang="en-GB" sz="1400" dirty="0">
              <a:sym typeface="Quicksand Medium"/>
            </a:endParaRPr>
          </a:p>
          <a:p>
            <a:pPr algn="l">
              <a:buFont typeface="Courier New" panose="02070309020205020404" pitchFamily="49" charset="0"/>
              <a:buChar char="o"/>
            </a:pPr>
            <a:endParaRPr lang="en-US" sz="11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Courier New" panose="02070309020205020404" pitchFamily="49" charset="0"/>
              <a:buChar char="o"/>
            </a:pPr>
            <a:r>
              <a:rPr lang="en-US" sz="1100" b="1" i="0" dirty="0">
                <a:solidFill>
                  <a:srgbClr val="374151"/>
                </a:solidFill>
                <a:effectLst/>
                <a:latin typeface="Söhne"/>
              </a:rPr>
              <a:t>Cluster 0 (10260clients)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: Gros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acheteurs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occasionnels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qui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dépensent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beaucoup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mais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ont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satisfaction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modérée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</a:p>
          <a:p>
            <a:pPr algn="l">
              <a:buFont typeface="Courier New" panose="02070309020205020404" pitchFamily="49" charset="0"/>
              <a:buChar char="o"/>
            </a:pPr>
            <a:endParaRPr lang="en-US" sz="11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Courier New" panose="02070309020205020404" pitchFamily="49" charset="0"/>
              <a:buChar char="o"/>
            </a:pPr>
            <a:r>
              <a:rPr lang="en-US" sz="1100" b="1" i="0" dirty="0">
                <a:solidFill>
                  <a:srgbClr val="374151"/>
                </a:solidFill>
                <a:effectLst/>
                <a:latin typeface="Söhne"/>
              </a:rPr>
              <a:t>Cluster 1 (48342 clients)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: Petits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acheteurs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occasionnels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avec des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dépenses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limitées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mais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très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satisfaits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leurs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achats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</a:p>
          <a:p>
            <a:pPr algn="l">
              <a:buFont typeface="Courier New" panose="02070309020205020404" pitchFamily="49" charset="0"/>
              <a:buChar char="o"/>
            </a:pPr>
            <a:endParaRPr lang="en-US" sz="1100" dirty="0">
              <a:solidFill>
                <a:srgbClr val="374151"/>
              </a:solidFill>
              <a:latin typeface="Söhne"/>
            </a:endParaRPr>
          </a:p>
          <a:p>
            <a:pPr algn="l">
              <a:buFont typeface="Courier New" panose="02070309020205020404" pitchFamily="49" charset="0"/>
              <a:buChar char="o"/>
            </a:pPr>
            <a:r>
              <a:rPr lang="en-US" sz="1100" b="1" i="0" dirty="0">
                <a:solidFill>
                  <a:srgbClr val="374151"/>
                </a:solidFill>
                <a:effectLst/>
                <a:latin typeface="Söhne"/>
              </a:rPr>
              <a:t>Cluster 2 (33249 clients)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: Petits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acheteurs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occasionnels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avec des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dépenses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limitées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ont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satisfaction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faible</a:t>
            </a:r>
            <a:endParaRPr lang="en-US" sz="11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Courier New" panose="02070309020205020404" pitchFamily="49" charset="0"/>
              <a:buChar char="o"/>
            </a:pPr>
            <a:endParaRPr lang="en-US" sz="11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Courier New" panose="02070309020205020404" pitchFamily="49" charset="0"/>
              <a:buChar char="o"/>
            </a:pPr>
            <a:r>
              <a:rPr lang="en-US" sz="1100" b="1" i="0" dirty="0">
                <a:solidFill>
                  <a:srgbClr val="374151"/>
                </a:solidFill>
                <a:effectLst/>
                <a:latin typeface="Söhne"/>
              </a:rPr>
              <a:t>Cluster 3 (2869 clients)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: Gros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acheteurs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avec plus </a:t>
            </a:r>
          </a:p>
          <a:p>
            <a:pPr marL="152400" indent="0" algn="l"/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       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d’une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commande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avec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satisfaction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modérée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</a:p>
          <a:p>
            <a:pPr marL="152400" indent="0" algn="l"/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       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mais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reviennent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faire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leurs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Söhne"/>
              </a:rPr>
              <a:t>achats</a:t>
            </a:r>
            <a:endParaRPr lang="en-US" sz="11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 algn="l">
              <a:buSzPts val="1200"/>
            </a:pPr>
            <a:endParaRPr lang="en-GB" sz="1400" dirty="0">
              <a:sym typeface="Quicksand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39D29D-9D7A-BADB-DF67-C4D0E31E30A7}"/>
              </a:ext>
            </a:extLst>
          </p:cNvPr>
          <p:cNvSpPr txBox="1"/>
          <p:nvPr/>
        </p:nvSpPr>
        <p:spPr>
          <a:xfrm>
            <a:off x="98166" y="1109488"/>
            <a:ext cx="554804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Ces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caractéristiques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sont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importantes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pour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comprendre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le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comportement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d'achat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des clients et pour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développer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des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stratégies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de marketing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ciblées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.</a:t>
            </a:r>
          </a:p>
          <a:p>
            <a:pPr algn="just"/>
            <a:endParaRPr lang="en-US" sz="1100" dirty="0">
              <a:solidFill>
                <a:srgbClr val="374151"/>
              </a:solidFill>
              <a:latin typeface="Söhne"/>
              <a:sym typeface="Quicksand SemiBold"/>
            </a:endParaRPr>
          </a:p>
          <a:p>
            <a:pPr algn="just"/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Après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avoir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formé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le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modèle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K-Means et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assigné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chaque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client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à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un cluster, on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analyse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les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caractéristiques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des clients dans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chaque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cluster pour </a:t>
            </a:r>
            <a:r>
              <a:rPr lang="en-US" sz="1100" dirty="0" err="1">
                <a:solidFill>
                  <a:srgbClr val="374151"/>
                </a:solidFill>
                <a:latin typeface="Söhne"/>
                <a:sym typeface="Quicksand SemiBold"/>
              </a:rPr>
              <a:t>comprendre</a:t>
            </a:r>
            <a:r>
              <a:rPr lang="en-US" sz="1100" dirty="0">
                <a:solidFill>
                  <a:srgbClr val="374151"/>
                </a:solidFill>
                <a:latin typeface="Söhne"/>
                <a:sym typeface="Quicksand SemiBold"/>
              </a:rPr>
              <a:t> </a:t>
            </a:r>
            <a:r>
              <a:rPr lang="en-US" dirty="0">
                <a:highlight>
                  <a:srgbClr val="53CFA2"/>
                </a:highlight>
                <a:latin typeface="Söhne"/>
                <a:sym typeface="Quicksand SemiBold"/>
              </a:rPr>
              <a:t>les </a:t>
            </a:r>
            <a:r>
              <a:rPr lang="en-US" dirty="0" err="1">
                <a:highlight>
                  <a:srgbClr val="53CFA2"/>
                </a:highlight>
                <a:latin typeface="Söhne"/>
                <a:sym typeface="Quicksand SemiBold"/>
              </a:rPr>
              <a:t>différences</a:t>
            </a:r>
            <a:r>
              <a:rPr lang="en-US" dirty="0">
                <a:highlight>
                  <a:srgbClr val="53CFA2"/>
                </a:highlight>
                <a:latin typeface="Söhne"/>
                <a:sym typeface="Quicksand SemiBold"/>
              </a:rPr>
              <a:t> et les </a:t>
            </a:r>
            <a:r>
              <a:rPr lang="en-US" dirty="0" err="1">
                <a:highlight>
                  <a:srgbClr val="53CFA2"/>
                </a:highlight>
                <a:latin typeface="Söhne"/>
                <a:sym typeface="Quicksand SemiBold"/>
              </a:rPr>
              <a:t>similarités</a:t>
            </a:r>
            <a:r>
              <a:rPr lang="en-US" dirty="0">
                <a:highlight>
                  <a:srgbClr val="53CFA2"/>
                </a:highlight>
                <a:latin typeface="Söhne"/>
                <a:sym typeface="Quicksand SemiBold"/>
              </a:rPr>
              <a:t> entre les </a:t>
            </a:r>
            <a:r>
              <a:rPr lang="en-US" dirty="0" err="1">
                <a:highlight>
                  <a:srgbClr val="53CFA2"/>
                </a:highlight>
                <a:latin typeface="Söhne"/>
                <a:sym typeface="Quicksand SemiBold"/>
              </a:rPr>
              <a:t>groupes</a:t>
            </a:r>
            <a:r>
              <a:rPr lang="en-US" dirty="0">
                <a:highlight>
                  <a:srgbClr val="53CFA2"/>
                </a:highlight>
                <a:latin typeface="Söhne"/>
                <a:sym typeface="Quicksand SemiBold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925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03;p43">
            <a:extLst>
              <a:ext uri="{FF2B5EF4-FFF2-40B4-BE49-F238E27FC236}">
                <a16:creationId xmlns:a16="http://schemas.microsoft.com/office/drawing/2014/main" id="{BBD14D34-6EA5-EFA6-F9CE-196FDD33363A}"/>
              </a:ext>
            </a:extLst>
          </p:cNvPr>
          <p:cNvSpPr txBox="1"/>
          <p:nvPr/>
        </p:nvSpPr>
        <p:spPr>
          <a:xfrm flipH="1">
            <a:off x="286113" y="46557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sym typeface="Quicksand SemiBold"/>
              </a:rPr>
              <a:t>Step</a:t>
            </a:r>
            <a:r>
              <a:rPr lang="en" sz="36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4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5" name="Google Shape;404;p43">
            <a:extLst>
              <a:ext uri="{FF2B5EF4-FFF2-40B4-BE49-F238E27FC236}">
                <a16:creationId xmlns:a16="http://schemas.microsoft.com/office/drawing/2014/main" id="{790F865B-9989-A9B3-D1EE-177DDDF30EAB}"/>
              </a:ext>
            </a:extLst>
          </p:cNvPr>
          <p:cNvSpPr txBox="1"/>
          <p:nvPr/>
        </p:nvSpPr>
        <p:spPr>
          <a:xfrm flipH="1">
            <a:off x="286113" y="804286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 err="1">
                <a:effectLst/>
                <a:latin typeface="Söhne"/>
              </a:rPr>
              <a:t>Partie</a:t>
            </a:r>
            <a:r>
              <a:rPr lang="en-US" sz="1600" b="1" i="0" dirty="0">
                <a:effectLst/>
                <a:latin typeface="Söhne"/>
              </a:rPr>
              <a:t> simulation</a:t>
            </a: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Simuler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l'ajout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nouvelles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données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et la mise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à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jour du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modèle</a:t>
            </a:r>
            <a:endParaRPr sz="1200" dirty="0">
              <a:solidFill>
                <a:schemeClr val="dk1"/>
              </a:solidFill>
              <a:latin typeface="Quicksand Medium"/>
              <a:sym typeface="Quicksand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843E9D-30CC-719C-602E-725CB8612F84}"/>
              </a:ext>
            </a:extLst>
          </p:cNvPr>
          <p:cNvSpPr txBox="1"/>
          <p:nvPr/>
        </p:nvSpPr>
        <p:spPr>
          <a:xfrm>
            <a:off x="2098413" y="694313"/>
            <a:ext cx="67294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 err="1">
                <a:highlight>
                  <a:srgbClr val="53CFA2"/>
                </a:highlight>
                <a:latin typeface="Söhne"/>
                <a:sym typeface="Quicksand SemiBold"/>
              </a:rPr>
              <a:t>Méthodologie</a:t>
            </a:r>
            <a:r>
              <a:rPr lang="en-US" dirty="0">
                <a:highlight>
                  <a:srgbClr val="53CFA2"/>
                </a:highlight>
                <a:latin typeface="Söhne"/>
                <a:sym typeface="Quicksand SemiBold"/>
              </a:rPr>
              <a:t> pour la simulation</a:t>
            </a:r>
            <a:r>
              <a:rPr lang="en-US" dirty="0">
                <a:highlight>
                  <a:srgbClr val="53CFA2"/>
                </a:highlight>
                <a:latin typeface="Söhne"/>
              </a:rPr>
              <a:t> 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Initialisation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Modèles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Modèle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Initial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Entraîné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fois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avec les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initiales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(70% du jeu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Modèle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Réentrainé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Mis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à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jour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hebdomadairement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avec des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cumulées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initiales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+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nouvelles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)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Segmentation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Temporelle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Initiales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70% du jeu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Nouvelles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Intégrées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hebdomadairement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pour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réentrainement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Boucle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Hebdomadaire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Combinaison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Fusion des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données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initiales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et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nouvelles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jusqu'à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la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semaine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en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cours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Prédiction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Prédiction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des clusters avec les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modèles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initial et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réentrainé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Analyse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de Performance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Métriques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Clés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Calcul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l'ARI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et du score de Davies-Bouldin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Comparaisons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Visuelles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Utilisation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 t-SNE pour des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comparaisons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visuelles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à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intervalles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spécifiques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22046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11;p43">
            <a:extLst>
              <a:ext uri="{FF2B5EF4-FFF2-40B4-BE49-F238E27FC236}">
                <a16:creationId xmlns:a16="http://schemas.microsoft.com/office/drawing/2014/main" id="{060A85C7-807D-4583-D905-BF2E61244460}"/>
              </a:ext>
            </a:extLst>
          </p:cNvPr>
          <p:cNvSpPr txBox="1"/>
          <p:nvPr/>
        </p:nvSpPr>
        <p:spPr>
          <a:xfrm flipH="1">
            <a:off x="0" y="284526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5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9" name="Google Shape;412;p43">
            <a:extLst>
              <a:ext uri="{FF2B5EF4-FFF2-40B4-BE49-F238E27FC236}">
                <a16:creationId xmlns:a16="http://schemas.microsoft.com/office/drawing/2014/main" id="{EF6C520E-4D1B-43F7-46A2-FB773F2300A6}"/>
              </a:ext>
            </a:extLst>
          </p:cNvPr>
          <p:cNvSpPr txBox="1"/>
          <p:nvPr/>
        </p:nvSpPr>
        <p:spPr>
          <a:xfrm flipH="1">
            <a:off x="0" y="677954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1000"/>
              </a:spcBef>
              <a:buClr>
                <a:schemeClr val="dk2"/>
              </a:buClr>
            </a:pPr>
            <a:r>
              <a:rPr lang="en-US" sz="1200" dirty="0">
                <a:solidFill>
                  <a:schemeClr val="dk1"/>
                </a:solidFill>
                <a:latin typeface="Quicksand Medium"/>
              </a:rPr>
              <a:t>Evaluation de la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stabilité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et de la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cohérence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segments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2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" name="Google Shape;359;p42">
            <a:extLst>
              <a:ext uri="{FF2B5EF4-FFF2-40B4-BE49-F238E27FC236}">
                <a16:creationId xmlns:a16="http://schemas.microsoft.com/office/drawing/2014/main" id="{AC33C08A-68EE-4D90-FD05-9F2BD53822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405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Analyse de la performance </a:t>
            </a:r>
            <a:br>
              <a:rPr lang="en-GB" sz="2400" dirty="0"/>
            </a:br>
            <a:r>
              <a:rPr lang="en-GB" sz="2400" dirty="0"/>
              <a:t>des </a:t>
            </a:r>
            <a:r>
              <a:rPr lang="en-GB" sz="2400" dirty="0" err="1"/>
              <a:t>modèles</a:t>
            </a:r>
            <a:r>
              <a:rPr lang="en-GB" sz="2400" dirty="0"/>
              <a:t> de </a:t>
            </a:r>
            <a:r>
              <a:rPr lang="en-GB" sz="2400" dirty="0" err="1"/>
              <a:t>prédiction</a:t>
            </a:r>
            <a:br>
              <a:rPr lang="en-GB" sz="2400" dirty="0"/>
            </a:b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E88BFA-1E5A-A883-383D-C636C357B1FE}"/>
              </a:ext>
            </a:extLst>
          </p:cNvPr>
          <p:cNvSpPr txBox="1"/>
          <p:nvPr/>
        </p:nvSpPr>
        <p:spPr>
          <a:xfrm>
            <a:off x="1528233" y="1198676"/>
            <a:ext cx="77039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Stabilité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et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Cohérence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,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évaluer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la performance et la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fiabilité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nos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modèles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 segmentation client avec les </a:t>
            </a:r>
            <a:r>
              <a:rPr lang="en-US" b="1" dirty="0" err="1">
                <a:solidFill>
                  <a:srgbClr val="374151"/>
                </a:solidFill>
                <a:latin typeface="Söhne"/>
              </a:rPr>
              <a:t>m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étriques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dirty="0" err="1">
                <a:solidFill>
                  <a:srgbClr val="374151"/>
                </a:solidFill>
                <a:latin typeface="Söhne"/>
              </a:rPr>
              <a:t>c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lés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L'indice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 Rand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ajusté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(ARI) et le score de Davies-Bouldin</a:t>
            </a:r>
            <a:br>
              <a:rPr lang="en-US" b="0" i="0" dirty="0">
                <a:solidFill>
                  <a:srgbClr val="374151"/>
                </a:solidFill>
                <a:effectLst/>
                <a:latin typeface="Söhne"/>
              </a:rPr>
            </a:b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öhne"/>
              </a:rPr>
              <a:t>Adjusted Rand Index (ARI)</a:t>
            </a:r>
            <a:r>
              <a:rPr lang="en-US" b="0" i="0" dirty="0">
                <a:effectLst/>
                <a:latin typeface="Söhne"/>
              </a:rPr>
              <a:t>: </a:t>
            </a:r>
            <a:r>
              <a:rPr lang="en-US" b="0" i="0" dirty="0" err="1">
                <a:effectLst/>
                <a:latin typeface="Söhne"/>
              </a:rPr>
              <a:t>mesure</a:t>
            </a:r>
            <a:r>
              <a:rPr lang="en-US" b="0" i="0" dirty="0">
                <a:effectLst/>
                <a:latin typeface="Söhne"/>
              </a:rPr>
              <a:t> de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la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similarité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entre deux affectations de clusters,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même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les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étiquettes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des clusters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différentes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Interprétation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</a:t>
            </a:r>
          </a:p>
          <a:p>
            <a:pPr marL="457200" lvl="1" algn="l"/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Valeur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Proche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de 1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Les assignations de clusters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presque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identiques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lvl="1" algn="l"/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Valeur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Proche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de 0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Les assignations de clusters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aléatoires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Utilisation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Évaluer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la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stabilité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des clusters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lors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réentrainements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du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modèle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0ABDE-8215-191A-B656-603434793038}"/>
              </a:ext>
            </a:extLst>
          </p:cNvPr>
          <p:cNvSpPr txBox="1"/>
          <p:nvPr/>
        </p:nvSpPr>
        <p:spPr>
          <a:xfrm>
            <a:off x="1528233" y="926950"/>
            <a:ext cx="6361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L'évaluation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de la </a:t>
            </a:r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stabilité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et de la </a:t>
            </a:r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cohérence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des segments</a:t>
            </a:r>
          </a:p>
        </p:txBody>
      </p:sp>
      <p:pic>
        <p:nvPicPr>
          <p:cNvPr id="16" name="Picture 15" descr="A blue line graph with numbers&#10;&#10;Description automatically generated">
            <a:extLst>
              <a:ext uri="{FF2B5EF4-FFF2-40B4-BE49-F238E27FC236}">
                <a16:creationId xmlns:a16="http://schemas.microsoft.com/office/drawing/2014/main" id="{9FB7DEA1-77E2-9AFA-A5C4-542609CF9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92" y="3646367"/>
            <a:ext cx="7961722" cy="121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29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11;p43">
            <a:extLst>
              <a:ext uri="{FF2B5EF4-FFF2-40B4-BE49-F238E27FC236}">
                <a16:creationId xmlns:a16="http://schemas.microsoft.com/office/drawing/2014/main" id="{060A85C7-807D-4583-D905-BF2E61244460}"/>
              </a:ext>
            </a:extLst>
          </p:cNvPr>
          <p:cNvSpPr txBox="1"/>
          <p:nvPr/>
        </p:nvSpPr>
        <p:spPr>
          <a:xfrm flipH="1">
            <a:off x="7219405" y="85254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5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9" name="Google Shape;412;p43">
            <a:extLst>
              <a:ext uri="{FF2B5EF4-FFF2-40B4-BE49-F238E27FC236}">
                <a16:creationId xmlns:a16="http://schemas.microsoft.com/office/drawing/2014/main" id="{EF6C520E-4D1B-43F7-46A2-FB773F2300A6}"/>
              </a:ext>
            </a:extLst>
          </p:cNvPr>
          <p:cNvSpPr txBox="1"/>
          <p:nvPr/>
        </p:nvSpPr>
        <p:spPr>
          <a:xfrm flipH="1">
            <a:off x="7219405" y="338154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1000"/>
              </a:spcBef>
              <a:buClr>
                <a:schemeClr val="dk2"/>
              </a:buClr>
            </a:pPr>
            <a:r>
              <a:rPr lang="en-US" sz="1200" dirty="0">
                <a:solidFill>
                  <a:schemeClr val="dk1"/>
                </a:solidFill>
                <a:latin typeface="Quicksand Medium"/>
              </a:rPr>
              <a:t>Evaluation de la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stabilité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et de la </a:t>
            </a:r>
            <a:r>
              <a:rPr lang="en-US" sz="1200" dirty="0" err="1">
                <a:solidFill>
                  <a:schemeClr val="dk1"/>
                </a:solidFill>
                <a:latin typeface="Quicksand Medium"/>
              </a:rPr>
              <a:t>cohérence</a:t>
            </a:r>
            <a:r>
              <a:rPr lang="en-US" sz="1200" dirty="0">
                <a:solidFill>
                  <a:schemeClr val="dk1"/>
                </a:solidFill>
                <a:latin typeface="Quicksand Medium"/>
              </a:rPr>
              <a:t> des segments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2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1" name="Google Shape;359;p42">
            <a:extLst>
              <a:ext uri="{FF2B5EF4-FFF2-40B4-BE49-F238E27FC236}">
                <a16:creationId xmlns:a16="http://schemas.microsoft.com/office/drawing/2014/main" id="{AC33C08A-68EE-4D90-FD05-9F2BD53822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405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Analyse de la performance </a:t>
            </a:r>
            <a:br>
              <a:rPr lang="en-GB" sz="2400" dirty="0"/>
            </a:br>
            <a:r>
              <a:rPr lang="en-GB" sz="2400" dirty="0"/>
              <a:t>des </a:t>
            </a:r>
            <a:r>
              <a:rPr lang="en-GB" sz="2400" dirty="0" err="1"/>
              <a:t>modèles</a:t>
            </a:r>
            <a:r>
              <a:rPr lang="en-GB" sz="2400" dirty="0"/>
              <a:t> de </a:t>
            </a:r>
            <a:r>
              <a:rPr lang="en-GB" sz="2400" dirty="0" err="1"/>
              <a:t>prédiction</a:t>
            </a:r>
            <a:br>
              <a:rPr lang="en-GB" sz="2400" dirty="0"/>
            </a:b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E88BFA-1E5A-A883-383D-C636C357B1FE}"/>
              </a:ext>
            </a:extLst>
          </p:cNvPr>
          <p:cNvSpPr txBox="1"/>
          <p:nvPr/>
        </p:nvSpPr>
        <p:spPr>
          <a:xfrm>
            <a:off x="493516" y="857226"/>
            <a:ext cx="770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u="none" strike="noStrike" dirty="0" err="1">
                <a:effectLst/>
                <a:latin typeface="Söhne"/>
              </a:rPr>
              <a:t>Indice</a:t>
            </a:r>
            <a:r>
              <a:rPr lang="en-US" b="1" i="0" u="none" strike="noStrike" dirty="0">
                <a:effectLst/>
                <a:latin typeface="Söhne"/>
              </a:rPr>
              <a:t> de Davies-Bouldin</a:t>
            </a:r>
          </a:p>
          <a:p>
            <a:pPr algn="l"/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L'indice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Davies-Bouldin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mesure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la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qualité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du clustering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évaluant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le rapport entre la dispersion interne des clusters et la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séparation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entre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eux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 Une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valeur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faible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l'indice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indique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que les clusters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compacts et bien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séparés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/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La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formule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l'indice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 Davies-Bouldin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donnée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par :</a:t>
            </a:r>
          </a:p>
          <a:p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où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KaTeX_Main"/>
              </a:rPr>
              <a:t>s</a:t>
            </a:r>
            <a:r>
              <a:rPr lang="en-US" b="0" i="0" u="none" strike="noStrike" baseline="-25000" dirty="0" err="1">
                <a:solidFill>
                  <a:srgbClr val="374151"/>
                </a:solidFill>
                <a:effectLst/>
                <a:latin typeface="KaTeX_Main"/>
              </a:rPr>
              <a:t>i</a:t>
            </a:r>
            <a:r>
              <a:rPr lang="en-US" i="1" baseline="-25000" dirty="0">
                <a:solidFill>
                  <a:srgbClr val="374151"/>
                </a:solidFill>
                <a:latin typeface="KaTeX_Math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la dispersion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moyenne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du cluster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KaTeX_Main"/>
              </a:rPr>
              <a:t>i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KaTeX_Main"/>
              </a:rPr>
              <a:t>s</a:t>
            </a:r>
            <a:r>
              <a:rPr lang="en-US" b="0" i="0" u="none" strike="noStrike" baseline="-25000" dirty="0" err="1">
                <a:solidFill>
                  <a:srgbClr val="374151"/>
                </a:solidFill>
                <a:effectLst/>
                <a:latin typeface="KaTeX_Main"/>
              </a:rPr>
              <a:t>j</a:t>
            </a:r>
            <a:endParaRPr lang="en-US" b="0" i="0" u="none" strike="noStrike" baseline="-25000" dirty="0">
              <a:solidFill>
                <a:srgbClr val="374151"/>
              </a:solidFill>
              <a:effectLst/>
              <a:latin typeface="KaTeX_Main"/>
            </a:endParaRPr>
          </a:p>
          <a:p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la dispersion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moyenne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du cluster </a:t>
            </a:r>
            <a:r>
              <a:rPr lang="en-US" b="0" i="1" u="none" strike="noStrike" dirty="0">
                <a:solidFill>
                  <a:srgbClr val="374151"/>
                </a:solidFill>
                <a:effectLst/>
                <a:latin typeface="KaTeX_Math"/>
              </a:rPr>
              <a:t>j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, et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KaTeX_Main"/>
              </a:rPr>
              <a:t>d</a:t>
            </a:r>
            <a:r>
              <a:rPr lang="en-US" b="0" i="0" u="none" strike="noStrike" baseline="-25000" dirty="0" err="1">
                <a:solidFill>
                  <a:srgbClr val="374151"/>
                </a:solidFill>
                <a:effectLst/>
                <a:latin typeface="KaTeX_Main"/>
              </a:rPr>
              <a:t>ij</a:t>
            </a:r>
            <a:r>
              <a:rPr lang="en-US" i="1" baseline="-25000" dirty="0">
                <a:solidFill>
                  <a:srgbClr val="374151"/>
                </a:solidFill>
                <a:latin typeface="KaTeX_Math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est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</a:p>
          <a:p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la distance entre les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centres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des clusters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KaTeX_Main"/>
              </a:rPr>
              <a:t>i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et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KaTeX_Main"/>
              </a:rPr>
              <a:t>j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i="0" u="none" strike="noStrike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en-US" b="0" i="0" u="none" strike="noStrike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6" name="Picture 5" descr="A number and symbols of mathematical equations&#10;&#10;Description automatically generated with medium confidence">
            <a:extLst>
              <a:ext uri="{FF2B5EF4-FFF2-40B4-BE49-F238E27FC236}">
                <a16:creationId xmlns:a16="http://schemas.microsoft.com/office/drawing/2014/main" id="{394FCC05-C144-C084-1FDB-B5A39CB1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289" y="1870378"/>
            <a:ext cx="3060700" cy="1187450"/>
          </a:xfrm>
          <a:prstGeom prst="rect">
            <a:avLst/>
          </a:prstGeom>
          <a:solidFill>
            <a:srgbClr val="000000">
              <a:shade val="95000"/>
            </a:srgbClr>
          </a:solidFill>
          <a:ln w="38100" cap="sq">
            <a:solidFill>
              <a:schemeClr val="tx1">
                <a:lumMod val="75000"/>
              </a:schemeClr>
            </a:solidFill>
            <a:miter lim="800000"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FCD5F-FA3B-E852-D253-34B1EA0AE5C2}"/>
              </a:ext>
            </a:extLst>
          </p:cNvPr>
          <p:cNvSpPr txBox="1"/>
          <p:nvPr/>
        </p:nvSpPr>
        <p:spPr>
          <a:xfrm>
            <a:off x="193265" y="3132890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  <a:latin typeface="Söhne"/>
              </a:rPr>
              <a:t>Valeur </a:t>
            </a:r>
            <a:r>
              <a:rPr lang="en-US" b="1" i="0" u="none" strike="noStrike" dirty="0" err="1">
                <a:solidFill>
                  <a:srgbClr val="374151"/>
                </a:solidFill>
                <a:effectLst/>
                <a:latin typeface="Söhne"/>
              </a:rPr>
              <a:t>proche</a:t>
            </a:r>
            <a:r>
              <a:rPr lang="en-US" b="1" i="0" u="none" strike="noStrike" dirty="0">
                <a:solidFill>
                  <a:srgbClr val="374151"/>
                </a:solidFill>
                <a:effectLst/>
                <a:latin typeface="Söhne"/>
              </a:rPr>
              <a:t> de 0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 Les clusters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bien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séparés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et compacts,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indiquant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</a:p>
          <a:p>
            <a:pPr algn="l"/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excellente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segmentation.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  <a:latin typeface="Söhne"/>
              </a:rPr>
              <a:t>Valeur </a:t>
            </a:r>
            <a:r>
              <a:rPr lang="en-US" b="1" i="0" u="none" strike="noStrike" dirty="0" err="1">
                <a:solidFill>
                  <a:srgbClr val="374151"/>
                </a:solidFill>
                <a:effectLst/>
                <a:latin typeface="Söhne"/>
              </a:rPr>
              <a:t>élevée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 Les clusters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sont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</a:p>
          <a:p>
            <a:pPr algn="l"/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moins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distincts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et plus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dispersés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, </a:t>
            </a:r>
          </a:p>
          <a:p>
            <a:pPr algn="l"/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indiquant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segmentation </a:t>
            </a:r>
          </a:p>
          <a:p>
            <a:pPr algn="l"/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de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moindre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u="none" strike="noStrike" dirty="0" err="1">
                <a:solidFill>
                  <a:srgbClr val="374151"/>
                </a:solidFill>
                <a:effectLst/>
                <a:latin typeface="Söhne"/>
              </a:rPr>
              <a:t>qualité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</p:txBody>
      </p:sp>
      <p:pic>
        <p:nvPicPr>
          <p:cNvPr id="13" name="Picture 12" descr="A graph with a line and a red line&#10;&#10;Description automatically generated with medium confidence">
            <a:extLst>
              <a:ext uri="{FF2B5EF4-FFF2-40B4-BE49-F238E27FC236}">
                <a16:creationId xmlns:a16="http://schemas.microsoft.com/office/drawing/2014/main" id="{80A083A6-1995-6CCA-0D31-5DAE03DC4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973" y="3477425"/>
            <a:ext cx="56769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25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3;p31">
            <a:extLst>
              <a:ext uri="{FF2B5EF4-FFF2-40B4-BE49-F238E27FC236}">
                <a16:creationId xmlns:a16="http://schemas.microsoft.com/office/drawing/2014/main" id="{0AF65A34-78F7-77AC-E62A-E80A1ABFD1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162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Conclusion sur la segmentation client </a:t>
            </a:r>
            <a:r>
              <a:rPr lang="en-GB" sz="1800" dirty="0" err="1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Olist</a:t>
            </a:r>
            <a:r>
              <a:rPr lang="en-GB" sz="18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</a:t>
            </a:r>
            <a:br>
              <a:rPr lang="en-GB" sz="18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</a:br>
            <a:r>
              <a:rPr lang="en-GB" sz="18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et les </a:t>
            </a:r>
            <a:r>
              <a:rPr lang="en-GB" sz="1800" dirty="0" err="1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recommandations</a:t>
            </a:r>
            <a:r>
              <a:rPr lang="en-GB" sz="18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marketing</a:t>
            </a:r>
            <a:endParaRPr lang="fr-FR" sz="18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6" name="Google Shape;407;p43">
            <a:extLst>
              <a:ext uri="{FF2B5EF4-FFF2-40B4-BE49-F238E27FC236}">
                <a16:creationId xmlns:a16="http://schemas.microsoft.com/office/drawing/2014/main" id="{27E9C035-A2C5-AB28-13EE-86826E4A36CB}"/>
              </a:ext>
            </a:extLst>
          </p:cNvPr>
          <p:cNvSpPr txBox="1"/>
          <p:nvPr/>
        </p:nvSpPr>
        <p:spPr>
          <a:xfrm flipH="1">
            <a:off x="7319253" y="619091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Step </a:t>
            </a:r>
            <a:r>
              <a:rPr lang="en" sz="3500" dirty="0">
                <a:solidFill>
                  <a:schemeClr val="dk2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6</a:t>
            </a:r>
            <a:endParaRPr sz="3500" dirty="0">
              <a:solidFill>
                <a:schemeClr val="dk2"/>
              </a:solidFill>
              <a:latin typeface="Quicksand SemiBold"/>
              <a:ea typeface="Quicksand SemiBold"/>
              <a:cs typeface="Quicksand SemiBold"/>
              <a:sym typeface="Quicksand SemiBold"/>
            </a:endParaRPr>
          </a:p>
        </p:txBody>
      </p:sp>
      <p:sp>
        <p:nvSpPr>
          <p:cNvPr id="7" name="Google Shape;408;p43">
            <a:extLst>
              <a:ext uri="{FF2B5EF4-FFF2-40B4-BE49-F238E27FC236}">
                <a16:creationId xmlns:a16="http://schemas.microsoft.com/office/drawing/2014/main" id="{712429E8-F8E2-79BA-2D9A-512FA11439E2}"/>
              </a:ext>
            </a:extLst>
          </p:cNvPr>
          <p:cNvSpPr txBox="1"/>
          <p:nvPr/>
        </p:nvSpPr>
        <p:spPr>
          <a:xfrm flipH="1">
            <a:off x="7319295" y="1119439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Conclusion sur la segmentation client </a:t>
            </a:r>
            <a:r>
              <a:rPr lang="en-GB" sz="1200" dirty="0" err="1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Olist</a:t>
            </a:r>
            <a:r>
              <a:rPr lang="en-GB" sz="1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et les </a:t>
            </a:r>
            <a:r>
              <a:rPr lang="en-GB" sz="1200" dirty="0" err="1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recommandations</a:t>
            </a:r>
            <a:r>
              <a:rPr lang="en-GB" sz="1200" dirty="0">
                <a:solidFill>
                  <a:schemeClr val="dk1"/>
                </a:solidFill>
                <a:latin typeface="Quicksand SemiBold"/>
                <a:ea typeface="Quicksand SemiBold"/>
                <a:cs typeface="Quicksand SemiBold"/>
                <a:sym typeface="Quicksand SemiBold"/>
              </a:rPr>
              <a:t> marketing</a:t>
            </a:r>
            <a:endParaRPr lang="fr-FR" sz="1200" dirty="0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4AECD-F714-E084-2FE3-5BF61B132DF8}"/>
              </a:ext>
            </a:extLst>
          </p:cNvPr>
          <p:cNvSpPr txBox="1"/>
          <p:nvPr/>
        </p:nvSpPr>
        <p:spPr>
          <a:xfrm>
            <a:off x="585303" y="764996"/>
            <a:ext cx="673397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dirty="0"/>
          </a:p>
          <a:p>
            <a:pPr algn="l"/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L'utilisation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de la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méthode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K-means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ainsi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que les variables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telles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le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nombre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de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produits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commandés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le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montant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total des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paiements</a:t>
            </a:r>
            <a:r>
              <a:rPr lang="en-US" dirty="0"/>
              <a:t>, la satisfaction client et le </a:t>
            </a:r>
            <a:r>
              <a:rPr lang="en-US" dirty="0" err="1"/>
              <a:t>choix</a:t>
            </a:r>
            <a:r>
              <a:rPr lang="en-US" dirty="0"/>
              <a:t> multiple de </a:t>
            </a:r>
            <a:r>
              <a:rPr lang="en-US" dirty="0" err="1"/>
              <a:t>commandes</a:t>
            </a:r>
            <a:r>
              <a:rPr lang="en-US" dirty="0"/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sont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des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outils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efficaces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pour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créer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des segments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significatifs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8DADB-B833-8E3B-B117-AA5B447670A4}"/>
              </a:ext>
            </a:extLst>
          </p:cNvPr>
          <p:cNvSpPr txBox="1"/>
          <p:nvPr/>
        </p:nvSpPr>
        <p:spPr>
          <a:xfrm>
            <a:off x="585303" y="1939587"/>
            <a:ext cx="772732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Suivi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de </a:t>
            </a:r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l'évolution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des clusters et de la </a:t>
            </a:r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fréquence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de maintenance du </a:t>
            </a:r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modèle</a:t>
            </a:r>
            <a:endParaRPr lang="en-US" b="1" dirty="0">
              <a:solidFill>
                <a:srgbClr val="374151"/>
              </a:solidFill>
              <a:highlight>
                <a:srgbClr val="53CFA2"/>
              </a:highlight>
              <a:latin typeface="Söhne"/>
            </a:endParaRPr>
          </a:p>
          <a:p>
            <a:r>
              <a:rPr lang="en-US" dirty="0"/>
              <a:t>Le score ARI </a:t>
            </a:r>
            <a:r>
              <a:rPr lang="en-US" dirty="0" err="1"/>
              <a:t>proche</a:t>
            </a:r>
            <a:r>
              <a:rPr lang="en-US" dirty="0"/>
              <a:t> de 1 </a:t>
            </a:r>
            <a:r>
              <a:rPr lang="en-US" dirty="0" err="1"/>
              <a:t>indique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haute </a:t>
            </a:r>
            <a:r>
              <a:rPr lang="en-US" dirty="0" err="1"/>
              <a:t>stabilité</a:t>
            </a:r>
            <a:r>
              <a:rPr lang="en-US" dirty="0"/>
              <a:t> des clusters. Les scores de Davies-Bouldin, </a:t>
            </a:r>
            <a:r>
              <a:rPr lang="en-US" dirty="0" err="1"/>
              <a:t>restant</a:t>
            </a:r>
            <a:r>
              <a:rPr lang="en-US" dirty="0"/>
              <a:t> constants sur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mois</a:t>
            </a:r>
            <a:r>
              <a:rPr lang="en-US" dirty="0"/>
              <a:t>, </a:t>
            </a:r>
            <a:r>
              <a:rPr lang="en-US" dirty="0" err="1"/>
              <a:t>confirment</a:t>
            </a:r>
            <a:r>
              <a:rPr lang="en-US" dirty="0"/>
              <a:t>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robustesse</a:t>
            </a:r>
            <a:r>
              <a:rPr lang="en-US" dirty="0"/>
              <a:t>. </a:t>
            </a:r>
          </a:p>
          <a:p>
            <a:r>
              <a:rPr lang="en-US" b="1" i="0" u="none" strike="noStrike" dirty="0" err="1">
                <a:effectLst/>
                <a:latin typeface="Söhne"/>
              </a:rPr>
              <a:t>Changements</a:t>
            </a:r>
            <a:r>
              <a:rPr lang="en-US" b="1" i="0" u="none" strike="noStrike" dirty="0">
                <a:effectLst/>
                <a:latin typeface="Söhne"/>
              </a:rPr>
              <a:t> dans les </a:t>
            </a:r>
            <a:r>
              <a:rPr lang="en-US" b="1" i="0" u="none" strike="noStrike" dirty="0" err="1">
                <a:effectLst/>
                <a:latin typeface="Söhne"/>
              </a:rPr>
              <a:t>Données</a:t>
            </a:r>
            <a:r>
              <a:rPr lang="en-US" b="1" i="0" u="none" strike="noStrike" dirty="0">
                <a:effectLst/>
                <a:latin typeface="Söhne"/>
              </a:rPr>
              <a:t> </a:t>
            </a:r>
            <a:r>
              <a:rPr lang="en-US" b="1" i="0" u="none" strike="noStrike" dirty="0" err="1">
                <a:effectLst/>
                <a:latin typeface="Söhne"/>
              </a:rPr>
              <a:t>d'Entrée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dirty="0" err="1"/>
              <a:t>Toute</a:t>
            </a:r>
            <a:r>
              <a:rPr lang="en-US" dirty="0"/>
              <a:t> modification significative dans la distribution des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d'entrée</a:t>
            </a:r>
            <a:r>
              <a:rPr lang="en-US" dirty="0"/>
              <a:t>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nécessiter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mise </a:t>
            </a:r>
            <a:r>
              <a:rPr lang="en-US" dirty="0" err="1"/>
              <a:t>à</a:t>
            </a:r>
            <a:r>
              <a:rPr lang="en-US" dirty="0"/>
              <a:t> jour du </a:t>
            </a:r>
            <a:r>
              <a:rPr lang="en-US" dirty="0" err="1"/>
              <a:t>modèle</a:t>
            </a:r>
            <a:r>
              <a:rPr lang="en-US" dirty="0"/>
              <a:t>. </a:t>
            </a:r>
            <a:r>
              <a:rPr lang="en-US" dirty="0" err="1"/>
              <a:t>Cela</a:t>
            </a:r>
            <a:r>
              <a:rPr lang="en-US" dirty="0"/>
              <a:t> </a:t>
            </a:r>
            <a:r>
              <a:rPr lang="en-US" dirty="0" err="1"/>
              <a:t>pourrait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dû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des </a:t>
            </a:r>
            <a:r>
              <a:rPr lang="en-US" dirty="0" err="1"/>
              <a:t>changements</a:t>
            </a:r>
            <a:r>
              <a:rPr lang="en-US" dirty="0"/>
              <a:t> </a:t>
            </a:r>
            <a:r>
              <a:rPr lang="en-US" dirty="0" err="1"/>
              <a:t>saisonniers</a:t>
            </a:r>
            <a:r>
              <a:rPr lang="en-US" dirty="0"/>
              <a:t>, des </a:t>
            </a:r>
            <a:r>
              <a:rPr lang="en-US" dirty="0" err="1"/>
              <a:t>campagnes</a:t>
            </a:r>
            <a:r>
              <a:rPr lang="en-US" dirty="0"/>
              <a:t> marketing, </a:t>
            </a:r>
            <a:r>
              <a:rPr lang="en-US" dirty="0" err="1"/>
              <a:t>ou</a:t>
            </a:r>
            <a:r>
              <a:rPr lang="en-US" dirty="0"/>
              <a:t> des </a:t>
            </a:r>
            <a:r>
              <a:rPr lang="en-US" dirty="0" err="1"/>
              <a:t>changements</a:t>
            </a:r>
            <a:r>
              <a:rPr lang="en-US" dirty="0"/>
              <a:t> dans le </a:t>
            </a:r>
            <a:r>
              <a:rPr lang="en-US" dirty="0" err="1"/>
              <a:t>comportement</a:t>
            </a:r>
            <a:r>
              <a:rPr lang="en-US" dirty="0"/>
              <a:t> des clients</a:t>
            </a:r>
          </a:p>
          <a:p>
            <a:r>
              <a:rPr lang="en-US" b="1" i="0" u="none" strike="noStrike" dirty="0" err="1">
                <a:solidFill>
                  <a:srgbClr val="374151"/>
                </a:solidFill>
                <a:effectLst/>
                <a:latin typeface="Söhne"/>
              </a:rPr>
              <a:t>Fréquence</a:t>
            </a:r>
            <a:r>
              <a:rPr lang="en-US" b="1" i="0" u="none" strike="noStrike" dirty="0">
                <a:solidFill>
                  <a:srgbClr val="374151"/>
                </a:solidFill>
                <a:effectLst/>
                <a:latin typeface="Söhne"/>
              </a:rPr>
              <a:t> de Maintenance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dirty="0" err="1"/>
              <a:t>Toutefois</a:t>
            </a:r>
            <a:r>
              <a:rPr lang="en-US" dirty="0"/>
              <a:t> bien que le score de Davies-Bouldin </a:t>
            </a:r>
            <a:r>
              <a:rPr lang="en-US" dirty="0" err="1"/>
              <a:t>reste</a:t>
            </a:r>
            <a:r>
              <a:rPr lang="en-US" dirty="0"/>
              <a:t> stable sur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mois</a:t>
            </a:r>
            <a:r>
              <a:rPr lang="en-US" dirty="0"/>
              <a:t>, il </a:t>
            </a:r>
            <a:r>
              <a:rPr lang="en-US" dirty="0" err="1"/>
              <a:t>pourrait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utile de </a:t>
            </a:r>
            <a:r>
              <a:rPr lang="en-US" dirty="0" err="1"/>
              <a:t>surveiller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scores </a:t>
            </a:r>
            <a:r>
              <a:rPr lang="en-US" dirty="0" err="1"/>
              <a:t>régulièrement</a:t>
            </a:r>
            <a:r>
              <a:rPr lang="en-US" dirty="0"/>
              <a:t> pour </a:t>
            </a:r>
            <a:r>
              <a:rPr lang="en-US" dirty="0" err="1"/>
              <a:t>détecter</a:t>
            </a:r>
            <a:r>
              <a:rPr lang="en-US" dirty="0"/>
              <a:t> </a:t>
            </a:r>
            <a:r>
              <a:rPr lang="en-US" dirty="0" err="1"/>
              <a:t>toute</a:t>
            </a:r>
            <a:r>
              <a:rPr lang="en-US" dirty="0"/>
              <a:t> variation </a:t>
            </a:r>
            <a:r>
              <a:rPr lang="en-US" dirty="0" err="1"/>
              <a:t>importante</a:t>
            </a:r>
            <a:r>
              <a:rPr lang="en-US" dirty="0"/>
              <a:t> qui </a:t>
            </a:r>
            <a:r>
              <a:rPr lang="en-US" dirty="0" err="1"/>
              <a:t>pourrait</a:t>
            </a:r>
            <a:r>
              <a:rPr lang="en-US" dirty="0"/>
              <a:t> </a:t>
            </a:r>
            <a:r>
              <a:rPr lang="en-US" dirty="0" err="1"/>
              <a:t>indiquer</a:t>
            </a:r>
            <a:r>
              <a:rPr lang="en-US" dirty="0"/>
              <a:t> un </a:t>
            </a:r>
            <a:r>
              <a:rPr lang="en-US" dirty="0" err="1"/>
              <a:t>changement</a:t>
            </a:r>
            <a:r>
              <a:rPr lang="en-US" dirty="0"/>
              <a:t> dans les </a:t>
            </a:r>
            <a:r>
              <a:rPr lang="en-US" dirty="0" err="1"/>
              <a:t>comportements</a:t>
            </a:r>
            <a:r>
              <a:rPr lang="en-US" dirty="0"/>
              <a:t> des clients </a:t>
            </a:r>
            <a:r>
              <a:rPr lang="en-US" dirty="0" err="1"/>
              <a:t>ou</a:t>
            </a:r>
            <a:r>
              <a:rPr lang="en-US" dirty="0"/>
              <a:t> la </a:t>
            </a:r>
            <a:r>
              <a:rPr lang="en-US" dirty="0" err="1"/>
              <a:t>nécessité</a:t>
            </a:r>
            <a:r>
              <a:rPr lang="en-US" dirty="0"/>
              <a:t> de revoir le </a:t>
            </a:r>
            <a:r>
              <a:rPr lang="en-US" dirty="0" err="1"/>
              <a:t>modèle</a:t>
            </a:r>
            <a:r>
              <a:rPr lang="en-US" dirty="0"/>
              <a:t>.</a:t>
            </a:r>
          </a:p>
          <a:p>
            <a:r>
              <a:rPr lang="en-US" dirty="0"/>
              <a:t>Une maintenance </a:t>
            </a:r>
            <a:r>
              <a:rPr lang="en-US" dirty="0" err="1"/>
              <a:t>semestrielle</a:t>
            </a:r>
            <a:r>
              <a:rPr lang="en-US" dirty="0"/>
              <a:t> </a:t>
            </a:r>
            <a:r>
              <a:rPr lang="en-US" dirty="0" err="1"/>
              <a:t>pourrait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suffisante pour </a:t>
            </a:r>
            <a:r>
              <a:rPr lang="en-US" dirty="0" err="1"/>
              <a:t>détecter</a:t>
            </a:r>
            <a:r>
              <a:rPr lang="en-US" dirty="0"/>
              <a:t> les </a:t>
            </a:r>
            <a:r>
              <a:rPr lang="en-US" dirty="0" err="1"/>
              <a:t>changements</a:t>
            </a:r>
            <a:r>
              <a:rPr lang="en-US" dirty="0"/>
              <a:t> dans les </a:t>
            </a:r>
            <a:r>
              <a:rPr lang="en-US" dirty="0" err="1"/>
              <a:t>comportements</a:t>
            </a:r>
            <a:r>
              <a:rPr lang="en-US" dirty="0"/>
              <a:t> des clients </a:t>
            </a:r>
            <a:r>
              <a:rPr lang="en-US" dirty="0" err="1"/>
              <a:t>ou</a:t>
            </a:r>
            <a:r>
              <a:rPr lang="en-US" dirty="0"/>
              <a:t> les impacts de </a:t>
            </a:r>
            <a:r>
              <a:rPr lang="en-US" dirty="0" err="1"/>
              <a:t>campagnes</a:t>
            </a:r>
            <a:r>
              <a:rPr lang="en-US" dirty="0"/>
              <a:t> marketing.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13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0D2D05-2DA5-6DF8-1030-769E363DD720}"/>
              </a:ext>
            </a:extLst>
          </p:cNvPr>
          <p:cNvSpPr txBox="1"/>
          <p:nvPr/>
        </p:nvSpPr>
        <p:spPr>
          <a:xfrm>
            <a:off x="4195322" y="554261"/>
            <a:ext cx="45720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solidFill>
                  <a:srgbClr val="374151"/>
                </a:solidFill>
                <a:latin typeface="Söhne"/>
                <a:sym typeface="Quicksand SemiBold"/>
              </a:rPr>
              <a:t>On </a:t>
            </a:r>
            <a:r>
              <a:rPr lang="en-US" sz="1200" dirty="0" err="1">
                <a:solidFill>
                  <a:srgbClr val="374151"/>
                </a:solidFill>
                <a:latin typeface="Söhne"/>
                <a:sym typeface="Quicksand SemiBold"/>
              </a:rPr>
              <a:t>identifie</a:t>
            </a:r>
            <a:r>
              <a:rPr lang="en-US" sz="1200" dirty="0">
                <a:solidFill>
                  <a:srgbClr val="374151"/>
                </a:solidFill>
                <a:latin typeface="Söhne"/>
                <a:sym typeface="Quicksand SemiBold"/>
              </a:rPr>
              <a:t> le type de clients dans </a:t>
            </a:r>
            <a:r>
              <a:rPr lang="en-US" sz="1200" dirty="0" err="1">
                <a:solidFill>
                  <a:srgbClr val="374151"/>
                </a:solidFill>
                <a:latin typeface="Söhne"/>
                <a:sym typeface="Quicksand SemiBold"/>
              </a:rPr>
              <a:t>chaque</a:t>
            </a:r>
            <a:r>
              <a:rPr lang="en-US" sz="1200" dirty="0">
                <a:solidFill>
                  <a:srgbClr val="374151"/>
                </a:solidFill>
                <a:latin typeface="Söhne"/>
                <a:sym typeface="Quicksand SemiBold"/>
              </a:rPr>
              <a:t> cluster et </a:t>
            </a:r>
            <a:r>
              <a:rPr lang="en-US" sz="1200" dirty="0" err="1">
                <a:solidFill>
                  <a:srgbClr val="374151"/>
                </a:solidFill>
                <a:latin typeface="Söhne"/>
                <a:sym typeface="Quicksand SemiBold"/>
              </a:rPr>
              <a:t>élabore</a:t>
            </a:r>
            <a:r>
              <a:rPr lang="en-US" sz="1200" dirty="0">
                <a:solidFill>
                  <a:srgbClr val="374151"/>
                </a:solidFill>
                <a:latin typeface="Söhne"/>
                <a:sym typeface="Quicksand SemiBold"/>
              </a:rPr>
              <a:t> des </a:t>
            </a:r>
            <a:r>
              <a:rPr lang="en-US" sz="1200" dirty="0" err="1">
                <a:solidFill>
                  <a:srgbClr val="374151"/>
                </a:solidFill>
                <a:latin typeface="Söhne"/>
                <a:sym typeface="Quicksand SemiBold"/>
              </a:rPr>
              <a:t>stratégies</a:t>
            </a:r>
            <a:r>
              <a:rPr lang="en-US" sz="1200" dirty="0">
                <a:solidFill>
                  <a:srgbClr val="374151"/>
                </a:solidFill>
                <a:latin typeface="Söhne"/>
                <a:sym typeface="Quicksand SemiBold"/>
              </a:rPr>
              <a:t> de marketing et de vente </a:t>
            </a:r>
            <a:r>
              <a:rPr lang="en-US" sz="1200" dirty="0" err="1">
                <a:solidFill>
                  <a:srgbClr val="374151"/>
                </a:solidFill>
                <a:latin typeface="Söhne"/>
                <a:sym typeface="Quicksand SemiBold"/>
              </a:rPr>
              <a:t>ciblées</a:t>
            </a:r>
            <a:r>
              <a:rPr lang="en-US" sz="1200" dirty="0">
                <a:solidFill>
                  <a:srgbClr val="374151"/>
                </a:solidFill>
                <a:latin typeface="Söhne"/>
                <a:sym typeface="Quicksand SemiBold"/>
              </a:rPr>
              <a:t> pour </a:t>
            </a:r>
            <a:r>
              <a:rPr lang="en-US" sz="1200" dirty="0" err="1">
                <a:solidFill>
                  <a:srgbClr val="374151"/>
                </a:solidFill>
                <a:latin typeface="Söhne"/>
                <a:sym typeface="Quicksand SemiBold"/>
              </a:rPr>
              <a:t>chaque</a:t>
            </a:r>
            <a:r>
              <a:rPr lang="en-US" sz="1200" dirty="0">
                <a:solidFill>
                  <a:srgbClr val="374151"/>
                </a:solidFill>
                <a:latin typeface="Söhne"/>
                <a:sym typeface="Quicksand SemiBold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Söhne"/>
                <a:sym typeface="Quicksand SemiBold"/>
              </a:rPr>
              <a:t>groupe</a:t>
            </a:r>
            <a:r>
              <a:rPr lang="en-US" sz="1200" dirty="0">
                <a:solidFill>
                  <a:srgbClr val="374151"/>
                </a:solidFill>
                <a:latin typeface="Söhne"/>
                <a:sym typeface="Quicksand SemiBold"/>
              </a:rPr>
              <a:t>.</a:t>
            </a:r>
          </a:p>
          <a:p>
            <a:pPr marL="228600" indent="-228600" algn="just">
              <a:buFont typeface="+mj-lt"/>
              <a:buAutoNum type="arabicPeriod"/>
            </a:pPr>
            <a:endParaRPr lang="en-US" sz="1200" dirty="0">
              <a:solidFill>
                <a:srgbClr val="374151"/>
              </a:solidFill>
              <a:latin typeface="Söhne"/>
              <a:sym typeface="Quicksand SemiBold"/>
            </a:endParaRPr>
          </a:p>
          <a:p>
            <a:pPr marL="171450" indent="-171450" algn="just">
              <a:buFont typeface="System Font Regular"/>
              <a:buChar char="0️⃣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Gros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acheteurs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occasionnels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qui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dépensent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beaucoup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mais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ont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satisfaction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modérée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: Proposer des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offres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groupées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produits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de haute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qualité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pour augmenter la satisfaction et maximiser la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dépense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just"/>
            <a:endParaRPr lang="en-US" sz="1200" b="1" i="0" dirty="0">
              <a:solidFill>
                <a:srgbClr val="374151"/>
              </a:solidFill>
              <a:effectLst/>
              <a:latin typeface="Söhne"/>
            </a:endParaRPr>
          </a:p>
          <a:p>
            <a:pPr marL="228600" indent="-228600" algn="just">
              <a:buFont typeface="System Font Regular"/>
              <a:buChar char="1️⃣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Petits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acheteurs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occasionnels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avec des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dépenses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limitées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mais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très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satisfaits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: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Envoyer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des e-mails de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remerciement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contenant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des codes de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réduction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pour encourager de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futurs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achats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171450" indent="-171450" algn="just">
              <a:buFont typeface="System Font Regular"/>
              <a:buChar char="🔍"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171450" indent="-171450" algn="just">
              <a:buFont typeface="System Font Regular"/>
              <a:buChar char="2️⃣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Petits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acheteurs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occasionnels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avec des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dépenses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limitées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ont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satisfaction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faible</a:t>
            </a:r>
            <a:r>
              <a:rPr lang="en-US" sz="1200" b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Envoyer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enquêtes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de satisfaction avec des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incitations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pour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recueillir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des retours et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améliorer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l'expérience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client.</a:t>
            </a:r>
          </a:p>
          <a:p>
            <a:pPr marL="171450" indent="-171450" algn="just">
              <a:buFont typeface="System Font Regular"/>
              <a:buChar char="🔍"/>
            </a:pPr>
            <a:endParaRPr lang="en-US" sz="12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171450" indent="-171450" algn="just">
              <a:buFont typeface="System Font Regular"/>
              <a:buChar char="3️⃣"/>
            </a:pP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Gros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acheteurs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avec plus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d’une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commande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et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une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satisfaction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modérée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mais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reviennent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faire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leurs</a:t>
            </a:r>
            <a:r>
              <a:rPr lang="en-US" sz="12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1" i="0" dirty="0" err="1">
                <a:solidFill>
                  <a:srgbClr val="374151"/>
                </a:solidFill>
                <a:effectLst/>
                <a:latin typeface="Söhne"/>
              </a:rPr>
              <a:t>achats</a:t>
            </a:r>
            <a:r>
              <a:rPr lang="en-US" sz="1200" b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Mettre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en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place un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programme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de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fidélité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offrant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des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avantages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exclusifs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pour encourager des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achats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200" b="0" i="0" dirty="0" err="1">
                <a:solidFill>
                  <a:srgbClr val="374151"/>
                </a:solidFill>
                <a:effectLst/>
                <a:latin typeface="Söhne"/>
              </a:rPr>
              <a:t>récurrents</a:t>
            </a: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 et augmenter la satisfaction.</a:t>
            </a:r>
          </a:p>
        </p:txBody>
      </p:sp>
      <p:pic>
        <p:nvPicPr>
          <p:cNvPr id="3" name="Picture 2" descr="A diagram of a triangle with different colored triangles&#10;&#10;Description automatically generated">
            <a:extLst>
              <a:ext uri="{FF2B5EF4-FFF2-40B4-BE49-F238E27FC236}">
                <a16:creationId xmlns:a16="http://schemas.microsoft.com/office/drawing/2014/main" id="{505E04BC-DAB9-8554-2768-9C22EB258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5" y="64168"/>
            <a:ext cx="4219386" cy="35277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98DD2E-8226-32A3-20CA-69C9896240AA}"/>
              </a:ext>
            </a:extLst>
          </p:cNvPr>
          <p:cNvSpPr txBox="1"/>
          <p:nvPr/>
        </p:nvSpPr>
        <p:spPr>
          <a:xfrm>
            <a:off x="109225" y="3591922"/>
            <a:ext cx="4586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Potentiels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strategies Marketing </a:t>
            </a:r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suivant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le segment </a:t>
            </a:r>
          </a:p>
          <a:p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auquel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</a:t>
            </a:r>
            <a:r>
              <a:rPr lang="en-US" b="1" dirty="0" err="1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appartient</a:t>
            </a:r>
            <a:r>
              <a:rPr lang="en-US" b="1" dirty="0">
                <a:solidFill>
                  <a:srgbClr val="374151"/>
                </a:solidFill>
                <a:highlight>
                  <a:srgbClr val="53CFA2"/>
                </a:highlight>
                <a:latin typeface="Söhne"/>
              </a:rPr>
              <a:t> le client		&gt;&gt;</a:t>
            </a:r>
          </a:p>
        </p:txBody>
      </p:sp>
    </p:spTree>
    <p:extLst>
      <p:ext uri="{BB962C8B-B14F-4D97-AF65-F5344CB8AC3E}">
        <p14:creationId xmlns:p14="http://schemas.microsoft.com/office/powerpoint/2010/main" val="1956729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"/>
          <p:cNvSpPr txBox="1">
            <a:spLocks noGrp="1"/>
          </p:cNvSpPr>
          <p:nvPr>
            <p:ph type="title"/>
          </p:nvPr>
        </p:nvSpPr>
        <p:spPr>
          <a:xfrm>
            <a:off x="968625" y="1424695"/>
            <a:ext cx="4448100" cy="12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 err="1"/>
              <a:t>erci</a:t>
            </a:r>
            <a:r>
              <a:rPr lang="en" dirty="0"/>
              <a:t> !</a:t>
            </a:r>
            <a:endParaRPr dirty="0"/>
          </a:p>
        </p:txBody>
      </p:sp>
      <p:sp>
        <p:nvSpPr>
          <p:cNvPr id="516" name="Google Shape;516;p48"/>
          <p:cNvSpPr/>
          <p:nvPr/>
        </p:nvSpPr>
        <p:spPr>
          <a:xfrm rot="5400000">
            <a:off x="5138400" y="2293495"/>
            <a:ext cx="1130400" cy="993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48"/>
          <p:cNvSpPr/>
          <p:nvPr/>
        </p:nvSpPr>
        <p:spPr>
          <a:xfrm>
            <a:off x="1796475" y="-900275"/>
            <a:ext cx="2184900" cy="218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8"/>
          <p:cNvSpPr/>
          <p:nvPr/>
        </p:nvSpPr>
        <p:spPr>
          <a:xfrm rot="2700000">
            <a:off x="1653673" y="576473"/>
            <a:ext cx="633002" cy="633002"/>
          </a:xfrm>
          <a:prstGeom prst="roundRect">
            <a:avLst>
              <a:gd name="adj" fmla="val 2662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48"/>
          <p:cNvSpPr/>
          <p:nvPr/>
        </p:nvSpPr>
        <p:spPr>
          <a:xfrm rot="-5400000">
            <a:off x="3577267" y="-512975"/>
            <a:ext cx="1410300" cy="1410300"/>
          </a:xfrm>
          <a:prstGeom prst="pie">
            <a:avLst>
              <a:gd name="adj1" fmla="val 5412192"/>
              <a:gd name="adj2" fmla="val 162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Geometric Shapes Style Pitch Deck by Slidesgo">
  <a:themeElements>
    <a:clrScheme name="Personnalisé 1">
      <a:dk1>
        <a:srgbClr val="C57863"/>
      </a:dk1>
      <a:lt1>
        <a:srgbClr val="FFFBF8"/>
      </a:lt1>
      <a:dk2>
        <a:srgbClr val="E4D6C6"/>
      </a:dk2>
      <a:lt2>
        <a:srgbClr val="DDD4C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53D3B"/>
      </a:hlink>
      <a:folHlink>
        <a:srgbClr val="C5786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54516</TotalTime>
  <Words>2575</Words>
  <Application>Microsoft Macintosh PowerPoint</Application>
  <PresentationFormat>On-screen Show (16:9)</PresentationFormat>
  <Paragraphs>271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System Font Regular</vt:lpstr>
      <vt:lpstr>Quicksand SemiBold</vt:lpstr>
      <vt:lpstr>KaTeX_Math</vt:lpstr>
      <vt:lpstr>KaTeX_Main</vt:lpstr>
      <vt:lpstr>Arial</vt:lpstr>
      <vt:lpstr>Courier New</vt:lpstr>
      <vt:lpstr>Nunito Light</vt:lpstr>
      <vt:lpstr>Bebas Neue</vt:lpstr>
      <vt:lpstr>Poppins Medium</vt:lpstr>
      <vt:lpstr>-apple-system</vt:lpstr>
      <vt:lpstr>Söhne</vt:lpstr>
      <vt:lpstr>Quicksand Medium</vt:lpstr>
      <vt:lpstr>Minimalist Geometric Shapes Style Pitch Deck by Slidesgo</vt:lpstr>
      <vt:lpstr>Segmentation clients et maintenance du modèle</vt:lpstr>
      <vt:lpstr>Introduction</vt:lpstr>
      <vt:lpstr>Timeline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Choix du modèle : K-means</vt:lpstr>
      <vt:lpstr>Modélisations et prédictions</vt:lpstr>
      <vt:lpstr>Caractéristiques des clusters</vt:lpstr>
      <vt:lpstr>PowerPoint Presentation</vt:lpstr>
      <vt:lpstr>Analyse de la performance  des modèles de prédiction </vt:lpstr>
      <vt:lpstr>Analyse de la performance  des modèles de prédiction </vt:lpstr>
      <vt:lpstr>Conclusion sur la segmentation client Olist  et les recommandations marketing</vt:lpstr>
      <vt:lpstr>PowerPoint Presentation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Geometric Shapes Style Pitch Deck</dc:title>
  <cp:lastModifiedBy>Laure Agrech</cp:lastModifiedBy>
  <cp:revision>362</cp:revision>
  <dcterms:modified xsi:type="dcterms:W3CDTF">2023-10-07T16:52:15Z</dcterms:modified>
</cp:coreProperties>
</file>